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Titelsida. Oppna med: 'Forra gangen tittade vi pa arbetsmarknaden - Alex har fatt jobb. Men racker pengarna nar man ska flytta hemifran?' Tid: ~30 sek.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review (5 min). Lat eleverna tanka enskilt forst, sedan prata i par. Ga igenom svaren snabbt helklass. Koppla: 'Nu vet Alex vad arbetsmarknaden erbjuder - men racker pengarna?' Om manga missade arbetsgivaravgift - forklara kort att det ar ~31% utover bruttolonen.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Malaktivering (2 min). Visa Alex situation - hen har fatt lagerjobbet fran forra lektionen. Fraga klassen: 'Vad tror ni - racker 22 000 for att leva sjalvstandigt?' Lat nagon svara kort. Presentera dagens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instruktion del 1 (5 min). Rakna pa tavlan: 22 000 x 0,7 = 15 400 (anvand kommunens faktiska skattesats, ca 30%). Forklara: 'Vart gar de 4 400 kr?' Koppla till kretsloppet fran lektion 1 - detta ar ETT av flodena vi ritade! Kontrollfragor: 'Vad ar skillnaden mellan brutto och netto?'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instruktion del 2 (5 min). Ga igenom skillnaden mellan fasta och rorliga utgifter. Betona: 'Fasta utgifter maste du betala oavsett - de ar icke-forhandlingsbara.' Fraga klassen: 'Vilka av dessa kan man paverka?' Introduktionera sparande som en 'utgift' - betala dig sjalv forst. Kontrollfragor till alla, inte bara frivilliga.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Diskussionspaus (2 min). Bro mellan instruktion och guidad ovning. Lat eleverna gissa - de behover inte ha ratt. Syftet ar att de borjar tanka pa proportioner. Lyssna pa nagra svar: 'Vad sa ni? Var det mer eller mindre an ni tankt?'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Introduktion av budgetovningen (2 min). Presentera de tre livsstilarna kort. 'Varje par far TVA av tre livsstilar att budgetera for.' Dela ut materialet. Peka pa de gemensamma fasta utgifterna langst 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Guidad ovning start (15 min). Dela ut livsstilsbeskrivningarna. Varje par far TVA av tre. Betona: borja med fasta utgifter! Cirkulera: stall fragor som 'Vad offrar Sparsam Alex?' (mot C), 'Kan man saga att en livsstil ar objektivt battre?' (mot A). Stod mot E: 'Borja med att lista alla fasta utgifter.' Tidsvarning vid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Diskussionspaus under guidad ovning (3 min). Byt fran rakne-uppgift till reflektion. Lyssna pa resonemang - notera vilka par som ar kvar pa E-niva (bara jamfor siffror) vs C/A-niva (diskuterar varderingar och perspektiv). Uppfoljning: 'Nagot par som vill dela?'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Sjalvstandig ovning (5 min skrivande + 5 min EPA). Lat eleverna skriva enskilt forst. De som ar klara snabbt kan lagga till: 'Vad hander om Alex bara jobbar halvtid?' Efter 5 min: EPA - Enskilt klart, Par 2 min, Alla 3 min. Fraga: 'Vems ansvar ar det om Alex hamnar i ekonomiska problem - individens eller samhallets?'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EPA-diskussion (5 min). Medvetet polariserande fraga. Poang: ekonomisk situation ar sallan bara eget ansvar ELLER bara samhallets - det ar en blandning. Lyft strukturella begransningar (lon, hyresmarknad) och individuella val. Undvik att ta stallning sjalv - lat eleverna resonera. Samla 2-3 svar fran helklass.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 (3 min). Dela ut lappar. Exit ticket testar forstaelse for buffert, prioritering och konsekvenstankande. Samla in och sortera i tre hogar: forstod, osaker, missade. Resultaten informerar lektion 4 om risker och skuldfalla. Preview: 'Nasta gang staller vi Alex infor svara val - vad hander nar ovantade utgifter dyker upp?'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21295C"/>
          </a:solidFill>
          <a:ln/>
        </p:spPr>
      </p:sp>
      <p:sp>
        <p:nvSpPr>
          <p:cNvPr id="3" name="Text 1"/>
          <p:cNvSpPr/>
          <p:nvPr/>
        </p:nvSpPr>
        <p:spPr>
          <a:xfrm>
            <a:off x="731520" y="731520"/>
            <a:ext cx="7680960" cy="548640"/>
          </a:xfrm>
          <a:prstGeom prst="rect">
            <a:avLst/>
          </a:prstGeom>
          <a:noFill/>
          <a:ln/>
        </p:spPr>
        <p:txBody>
          <a:bodyPr wrap="square" rtlCol="0" anchor="ctr"/>
          <a:lstStyle/>
          <a:p>
            <a:pPr indent="0" marL="0">
              <a:buNone/>
            </a:pPr>
            <a:r>
              <a:rPr lang="en-US" sz="1600" spc="400" kern="0" dirty="0">
                <a:solidFill>
                  <a:srgbClr val="8BC4E0"/>
                </a:solidFill>
                <a:latin typeface="Calibri" pitchFamily="34" charset="0"/>
                <a:ea typeface="Calibri" pitchFamily="34" charset="-122"/>
                <a:cs typeface="Calibri" pitchFamily="34" charset="-120"/>
              </a:rPr>
              <a:t>Lektion 3</a:t>
            </a:r>
            <a:endParaRPr lang="en-US" sz="1600" dirty="0"/>
          </a:p>
        </p:txBody>
      </p:sp>
      <p:sp>
        <p:nvSpPr>
          <p:cNvPr id="4" name="Text 2"/>
          <p:cNvSpPr/>
          <p:nvPr/>
        </p:nvSpPr>
        <p:spPr>
          <a:xfrm>
            <a:off x="731520" y="1371600"/>
            <a:ext cx="7680960" cy="13716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"Racker pengarna?"</a:t>
            </a:r>
            <a:endParaRPr lang="en-US" sz="4000" dirty="0"/>
          </a:p>
        </p:txBody>
      </p:sp>
      <p:sp>
        <p:nvSpPr>
          <p:cNvPr id="5" name="Text 3"/>
          <p:cNvSpPr/>
          <p:nvPr/>
        </p:nvSpPr>
        <p:spPr>
          <a:xfrm>
            <a:off x="731520" y="2743200"/>
            <a:ext cx="7680960" cy="548640"/>
          </a:xfrm>
          <a:prstGeom prst="rect">
            <a:avLst/>
          </a:prstGeom>
          <a:noFill/>
          <a:ln/>
        </p:spPr>
        <p:txBody>
          <a:bodyPr wrap="square" rtlCol="0" anchor="ctr"/>
          <a:lstStyle/>
          <a:p>
            <a:pPr indent="0" marL="0">
              <a:buNone/>
            </a:pPr>
            <a:r>
              <a:rPr lang="en-US" sz="2000" i="1" dirty="0">
                <a:solidFill>
                  <a:srgbClr val="B0D4E8"/>
                </a:solidFill>
                <a:latin typeface="Calibri" pitchFamily="34" charset="0"/>
                <a:ea typeface="Calibri" pitchFamily="34" charset="-122"/>
                <a:cs typeface="Calibri" pitchFamily="34" charset="-120"/>
              </a:rPr>
              <a:t>Privatekonomi och budget</a:t>
            </a:r>
            <a:endParaRPr lang="en-US" sz="2000" dirty="0"/>
          </a:p>
        </p:txBody>
      </p:sp>
      <p:sp>
        <p:nvSpPr>
          <p:cNvPr id="6" name="Text 4"/>
          <p:cNvSpPr/>
          <p:nvPr/>
        </p:nvSpPr>
        <p:spPr>
          <a:xfrm>
            <a:off x="731520" y="4114800"/>
            <a:ext cx="7680960" cy="457200"/>
          </a:xfrm>
          <a:prstGeom prst="rect">
            <a:avLst/>
          </a:prstGeom>
          <a:noFill/>
          <a:ln/>
        </p:spPr>
        <p:txBody>
          <a:bodyPr wrap="square" rtlCol="0" anchor="ctr"/>
          <a:lstStyle/>
          <a:p>
            <a:pPr indent="0" marL="0">
              <a:buNone/>
            </a:pPr>
            <a:r>
              <a:rPr lang="en-US" sz="1400" dirty="0">
                <a:solidFill>
                  <a:srgbClr val="8BA8C0"/>
                </a:solidFill>
                <a:latin typeface="Calibri" pitchFamily="34" charset="0"/>
                <a:ea typeface="Calibri" pitchFamily="34" charset="-122"/>
                <a:cs typeface="Calibri" pitchFamily="34" charset="-120"/>
              </a:rPr>
              <a:t>Samhallskunskap 1a1  |  Ungas ekonomi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8"/>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Vad minns ni fran forra gangen?</a:t>
            </a:r>
            <a:endParaRPr lang="en-US" sz="3200" dirty="0"/>
          </a:p>
        </p:txBody>
      </p:sp>
      <p:sp>
        <p:nvSpPr>
          <p:cNvPr id="3" name="Shape 1"/>
          <p:cNvSpPr/>
          <p:nvPr/>
        </p:nvSpPr>
        <p:spPr>
          <a:xfrm>
            <a:off x="548640" y="1280160"/>
            <a:ext cx="25603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548640" y="1280160"/>
            <a:ext cx="2560320" cy="54864"/>
          </a:xfrm>
          <a:prstGeom prst="rect">
            <a:avLst/>
          </a:prstGeom>
          <a:solidFill>
            <a:srgbClr val="0891B2"/>
          </a:solidFill>
          <a:ln/>
        </p:spPr>
      </p:sp>
      <p:sp>
        <p:nvSpPr>
          <p:cNvPr id="5" name="Text 3"/>
          <p:cNvSpPr/>
          <p:nvPr/>
        </p:nvSpPr>
        <p:spPr>
          <a:xfrm>
            <a:off x="548640" y="1463040"/>
            <a:ext cx="2560320" cy="457200"/>
          </a:xfrm>
          <a:prstGeom prst="rect">
            <a:avLst/>
          </a:prstGeom>
          <a:noFill/>
          <a:ln/>
        </p:spPr>
        <p:txBody>
          <a:bodyPr wrap="square" rtlCol="0" anchor="ctr"/>
          <a:lstStyle/>
          <a:p>
            <a:pPr algn="ctr" indent="0" marL="0">
              <a:buNone/>
            </a:pPr>
            <a:r>
              <a:rPr lang="en-US" sz="2800" b="1" dirty="0">
                <a:solidFill>
                  <a:srgbClr val="0891B2"/>
                </a:solidFill>
                <a:latin typeface="Georgia" pitchFamily="34" charset="0"/>
                <a:ea typeface="Georgia" pitchFamily="34" charset="-122"/>
                <a:cs typeface="Georgia" pitchFamily="34" charset="-120"/>
              </a:rPr>
              <a:t>1</a:t>
            </a:r>
            <a:endParaRPr lang="en-US" sz="2800" dirty="0"/>
          </a:p>
        </p:txBody>
      </p:sp>
      <p:sp>
        <p:nvSpPr>
          <p:cNvPr id="6" name="Text 4"/>
          <p:cNvSpPr/>
          <p:nvPr/>
        </p:nvSpPr>
        <p:spPr>
          <a:xfrm>
            <a:off x="731520" y="2011680"/>
            <a:ext cx="2194560" cy="1463040"/>
          </a:xfrm>
          <a:prstGeom prst="rect">
            <a:avLst/>
          </a:prstGeom>
          <a:noFill/>
          <a:ln/>
        </p:spPr>
        <p:txBody>
          <a:bodyPr wrap="square" rtlCol="0" anchor="t"/>
          <a:lstStyle/>
          <a:p>
            <a:pPr algn="ctr" indent="0" marL="0">
              <a:buNone/>
            </a:pPr>
            <a:r>
              <a:rPr lang="en-US" sz="1400" dirty="0">
                <a:solidFill>
                  <a:srgbClr val="1E293B"/>
                </a:solidFill>
                <a:latin typeface="Calibri" pitchFamily="34" charset="0"/>
                <a:ea typeface="Calibri" pitchFamily="34" charset="-122"/>
                <a:cs typeface="Calibri" pitchFamily="34" charset="-120"/>
              </a:rPr>
              <a:t>Namm tre anstallningsformer vi pratade om</a:t>
            </a:r>
            <a:endParaRPr lang="en-US" sz="1400" dirty="0"/>
          </a:p>
        </p:txBody>
      </p:sp>
      <p:sp>
        <p:nvSpPr>
          <p:cNvPr id="7" name="Shape 5"/>
          <p:cNvSpPr/>
          <p:nvPr/>
        </p:nvSpPr>
        <p:spPr>
          <a:xfrm>
            <a:off x="3383280" y="1280160"/>
            <a:ext cx="25603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3383280" y="1280160"/>
            <a:ext cx="2560320" cy="54864"/>
          </a:xfrm>
          <a:prstGeom prst="rect">
            <a:avLst/>
          </a:prstGeom>
          <a:solidFill>
            <a:srgbClr val="0891B2"/>
          </a:solidFill>
          <a:ln/>
        </p:spPr>
      </p:sp>
      <p:sp>
        <p:nvSpPr>
          <p:cNvPr id="9" name="Text 7"/>
          <p:cNvSpPr/>
          <p:nvPr/>
        </p:nvSpPr>
        <p:spPr>
          <a:xfrm>
            <a:off x="3383280" y="1463040"/>
            <a:ext cx="2560320" cy="457200"/>
          </a:xfrm>
          <a:prstGeom prst="rect">
            <a:avLst/>
          </a:prstGeom>
          <a:noFill/>
          <a:ln/>
        </p:spPr>
        <p:txBody>
          <a:bodyPr wrap="square" rtlCol="0" anchor="ctr"/>
          <a:lstStyle/>
          <a:p>
            <a:pPr algn="ctr" indent="0" marL="0">
              <a:buNone/>
            </a:pPr>
            <a:r>
              <a:rPr lang="en-US" sz="2800" b="1" dirty="0">
                <a:solidFill>
                  <a:srgbClr val="0891B2"/>
                </a:solidFill>
                <a:latin typeface="Georgia" pitchFamily="34" charset="0"/>
                <a:ea typeface="Georgia" pitchFamily="34" charset="-122"/>
                <a:cs typeface="Georgia" pitchFamily="34" charset="-120"/>
              </a:rPr>
              <a:t>2</a:t>
            </a:r>
            <a:endParaRPr lang="en-US" sz="2800" dirty="0"/>
          </a:p>
        </p:txBody>
      </p:sp>
      <p:sp>
        <p:nvSpPr>
          <p:cNvPr id="10" name="Text 8"/>
          <p:cNvSpPr/>
          <p:nvPr/>
        </p:nvSpPr>
        <p:spPr>
          <a:xfrm>
            <a:off x="3566160" y="2011680"/>
            <a:ext cx="2194560" cy="1463040"/>
          </a:xfrm>
          <a:prstGeom prst="rect">
            <a:avLst/>
          </a:prstGeom>
          <a:noFill/>
          <a:ln/>
        </p:spPr>
        <p:txBody>
          <a:bodyPr wrap="square" rtlCol="0" anchor="t"/>
          <a:lstStyle/>
          <a:p>
            <a:pPr algn="ctr" indent="0" marL="0">
              <a:buNone/>
            </a:pPr>
            <a:r>
              <a:rPr lang="en-US" sz="1400" dirty="0">
                <a:solidFill>
                  <a:srgbClr val="1E293B"/>
                </a:solidFill>
                <a:latin typeface="Calibri" pitchFamily="34" charset="0"/>
                <a:ea typeface="Calibri" pitchFamily="34" charset="-122"/>
                <a:cs typeface="Calibri" pitchFamily="34" charset="-120"/>
              </a:rPr>
              <a:t>Vad ar en nackdel med timanstallning?</a:t>
            </a:r>
            <a:endParaRPr lang="en-US" sz="1400" dirty="0"/>
          </a:p>
        </p:txBody>
      </p:sp>
      <p:sp>
        <p:nvSpPr>
          <p:cNvPr id="11" name="Shape 9"/>
          <p:cNvSpPr/>
          <p:nvPr/>
        </p:nvSpPr>
        <p:spPr>
          <a:xfrm>
            <a:off x="6217920" y="1280160"/>
            <a:ext cx="25603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6217920" y="1280160"/>
            <a:ext cx="2560320" cy="54864"/>
          </a:xfrm>
          <a:prstGeom prst="rect">
            <a:avLst/>
          </a:prstGeom>
          <a:solidFill>
            <a:srgbClr val="0891B2"/>
          </a:solidFill>
          <a:ln/>
        </p:spPr>
      </p:sp>
      <p:sp>
        <p:nvSpPr>
          <p:cNvPr id="13" name="Text 11"/>
          <p:cNvSpPr/>
          <p:nvPr/>
        </p:nvSpPr>
        <p:spPr>
          <a:xfrm>
            <a:off x="6217920" y="1463040"/>
            <a:ext cx="2560320" cy="457200"/>
          </a:xfrm>
          <a:prstGeom prst="rect">
            <a:avLst/>
          </a:prstGeom>
          <a:noFill/>
          <a:ln/>
        </p:spPr>
        <p:txBody>
          <a:bodyPr wrap="square" rtlCol="0" anchor="ctr"/>
          <a:lstStyle/>
          <a:p>
            <a:pPr algn="ctr" indent="0" marL="0">
              <a:buNone/>
            </a:pPr>
            <a:r>
              <a:rPr lang="en-US" sz="2800" b="1" dirty="0">
                <a:solidFill>
                  <a:srgbClr val="0891B2"/>
                </a:solidFill>
                <a:latin typeface="Georgia" pitchFamily="34" charset="0"/>
                <a:ea typeface="Georgia" pitchFamily="34" charset="-122"/>
                <a:cs typeface="Georgia" pitchFamily="34" charset="-120"/>
              </a:rPr>
              <a:t>3</a:t>
            </a:r>
            <a:endParaRPr lang="en-US" sz="2800" dirty="0"/>
          </a:p>
        </p:txBody>
      </p:sp>
      <p:sp>
        <p:nvSpPr>
          <p:cNvPr id="14" name="Text 12"/>
          <p:cNvSpPr/>
          <p:nvPr/>
        </p:nvSpPr>
        <p:spPr>
          <a:xfrm>
            <a:off x="6400800" y="2011680"/>
            <a:ext cx="2194560" cy="1463040"/>
          </a:xfrm>
          <a:prstGeom prst="rect">
            <a:avLst/>
          </a:prstGeom>
          <a:noFill/>
          <a:ln/>
        </p:spPr>
        <p:txBody>
          <a:bodyPr wrap="square" rtlCol="0" anchor="t"/>
          <a:lstStyle/>
          <a:p>
            <a:pPr algn="ctr" indent="0" marL="0">
              <a:buNone/>
            </a:pPr>
            <a:r>
              <a:rPr lang="en-US" sz="1400" dirty="0">
                <a:solidFill>
                  <a:srgbClr val="1E293B"/>
                </a:solidFill>
                <a:latin typeface="Calibri" pitchFamily="34" charset="0"/>
                <a:ea typeface="Calibri" pitchFamily="34" charset="-122"/>
                <a:cs typeface="Calibri" pitchFamily="34" charset="-120"/>
              </a:rPr>
              <a:t>Vem betalar arbetsgivaravgift?</a:t>
            </a:r>
            <a:endParaRPr lang="en-US" sz="1400" dirty="0"/>
          </a:p>
        </p:txBody>
      </p:sp>
      <p:sp>
        <p:nvSpPr>
          <p:cNvPr id="15" name="Text 13"/>
          <p:cNvSpPr/>
          <p:nvPr/>
        </p:nvSpPr>
        <p:spPr>
          <a:xfrm>
            <a:off x="548640" y="4206240"/>
            <a:ext cx="8046720" cy="45720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Enskilt 1 min → Par 2 min → Gemensamt 2 min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65A82"/>
          </a:solidFill>
          <a:ln/>
        </p:spPr>
      </p:sp>
      <p:sp>
        <p:nvSpPr>
          <p:cNvPr id="3" name="Text 1"/>
          <p:cNvSpPr/>
          <p:nvPr/>
        </p:nvSpPr>
        <p:spPr>
          <a:xfrm>
            <a:off x="457200" y="457200"/>
            <a:ext cx="3200400" cy="91440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Alex flyttar hemifran!</a:t>
            </a:r>
            <a:endParaRPr lang="en-US" sz="2800" dirty="0"/>
          </a:p>
        </p:txBody>
      </p:sp>
      <p:sp>
        <p:nvSpPr>
          <p:cNvPr id="4" name="Text 2"/>
          <p:cNvSpPr/>
          <p:nvPr/>
        </p:nvSpPr>
        <p:spPr>
          <a:xfrm>
            <a:off x="457200" y="1463040"/>
            <a:ext cx="3200400" cy="2743200"/>
          </a:xfrm>
          <a:prstGeom prst="rect">
            <a:avLst/>
          </a:prstGeom>
          <a:noFill/>
          <a:ln/>
        </p:spPr>
        <p:txBody>
          <a:bodyPr wrap="square" rtlCol="0" anchor="ctr"/>
          <a:lstStyle/>
          <a:p>
            <a:pPr indent="0" marL="0">
              <a:buNone/>
            </a:pPr>
            <a:r>
              <a:rPr lang="en-US" sz="1500" dirty="0">
                <a:solidFill>
                  <a:srgbClr val="B0D4E8"/>
                </a:solidFill>
                <a:latin typeface="Calibri" pitchFamily="34" charset="0"/>
                <a:ea typeface="Calibri" pitchFamily="34" charset="-122"/>
                <a:cs typeface="Calibri" pitchFamily="34" charset="-120"/>
              </a:rPr>
              <a:t>Alex har fatt lagerjobbet.</a:t>
            </a:r>
            <a:endParaRPr lang="en-US" sz="1500" dirty="0"/>
          </a:p>
          <a:p>
            <a:pPr indent="0" marL="0">
              <a:buNone/>
            </a:pPr>
            <a:endParaRPr lang="en-US" sz="1500" dirty="0"/>
          </a:p>
          <a:p>
            <a:pPr indent="0" marL="0">
              <a:buNone/>
            </a:pPr>
            <a:r>
              <a:rPr lang="en-US" sz="1500" dirty="0">
                <a:solidFill>
                  <a:srgbClr val="B0D4E8"/>
                </a:solidFill>
                <a:latin typeface="Calibri" pitchFamily="34" charset="0"/>
                <a:ea typeface="Calibri" pitchFamily="34" charset="-122"/>
                <a:cs typeface="Calibri" pitchFamily="34" charset="-120"/>
              </a:rPr>
              <a:t>Bruttolonen ar</a:t>
            </a:r>
            <a:endParaRPr lang="en-US" sz="1500" dirty="0"/>
          </a:p>
          <a:p>
            <a:pPr indent="0" marL="0">
              <a:buNone/>
            </a:pPr>
            <a:r>
              <a:rPr lang="en-US" sz="2600" b="1" dirty="0">
                <a:solidFill>
                  <a:srgbClr val="FFFFFF"/>
                </a:solidFill>
                <a:latin typeface="Calibri" pitchFamily="34" charset="0"/>
                <a:ea typeface="Calibri" pitchFamily="34" charset="-122"/>
                <a:cs typeface="Calibri" pitchFamily="34" charset="-120"/>
              </a:rPr>
              <a:t>22 000 kr/man</a:t>
            </a:r>
            <a:endParaRPr lang="en-US" sz="1500" dirty="0"/>
          </a:p>
          <a:p>
            <a:pPr indent="0" marL="0">
              <a:buNone/>
            </a:pPr>
            <a:endParaRPr lang="en-US" sz="1500" dirty="0"/>
          </a:p>
          <a:p>
            <a:pPr indent="0" marL="0">
              <a:buNone/>
            </a:pPr>
            <a:r>
              <a:rPr lang="en-US" sz="1800" i="1" dirty="0">
                <a:solidFill>
                  <a:srgbClr val="F0F5F8"/>
                </a:solidFill>
                <a:latin typeface="Calibri" pitchFamily="34" charset="0"/>
                <a:ea typeface="Calibri" pitchFamily="34" charset="-122"/>
                <a:cs typeface="Calibri" pitchFamily="34" charset="-120"/>
              </a:rPr>
              <a:t>Racker det for att leva?</a:t>
            </a:r>
            <a:endParaRPr lang="en-US" sz="1500" dirty="0"/>
          </a:p>
        </p:txBody>
      </p:sp>
      <p:sp>
        <p:nvSpPr>
          <p:cNvPr id="5" name="Text 3"/>
          <p:cNvSpPr/>
          <p:nvPr/>
        </p:nvSpPr>
        <p:spPr>
          <a:xfrm>
            <a:off x="4754880" y="731520"/>
            <a:ext cx="3931920" cy="457200"/>
          </a:xfrm>
          <a:prstGeom prst="rect">
            <a:avLst/>
          </a:prstGeom>
          <a:noFill/>
          <a:ln/>
        </p:spPr>
        <p:txBody>
          <a:bodyPr wrap="square" rtlCol="0" anchor="ctr"/>
          <a:lstStyle/>
          <a:p>
            <a:pPr indent="0" marL="0">
              <a:buNone/>
            </a:pPr>
            <a:r>
              <a:rPr lang="en-US" sz="2200" b="1" dirty="0">
                <a:solidFill>
                  <a:srgbClr val="065A82"/>
                </a:solidFill>
                <a:latin typeface="Georgia" pitchFamily="34" charset="0"/>
                <a:ea typeface="Georgia" pitchFamily="34" charset="-122"/>
                <a:cs typeface="Georgia" pitchFamily="34" charset="-120"/>
              </a:rPr>
              <a:t>Dagens mal</a:t>
            </a:r>
            <a:endParaRPr lang="en-US" sz="2200" dirty="0"/>
          </a:p>
        </p:txBody>
      </p:sp>
      <p:sp>
        <p:nvSpPr>
          <p:cNvPr id="6" name="Text 4"/>
          <p:cNvSpPr/>
          <p:nvPr/>
        </p:nvSpPr>
        <p:spPr>
          <a:xfrm>
            <a:off x="4754880" y="1371600"/>
            <a:ext cx="3931920" cy="228600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Ni ska kunna:</a:t>
            </a:r>
            <a:endParaRPr lang="en-US" sz="1500" dirty="0"/>
          </a:p>
          <a:p>
            <a:pPr indent="0" marL="0">
              <a:buNone/>
            </a:pPr>
            <a:endParaRPr lang="en-US" sz="1500" dirty="0"/>
          </a:p>
          <a:p>
            <a:pPr marL="342900" indent="-342900">
              <a:buSzPct val="100000"/>
              <a:buChar char="•"/>
            </a:pPr>
            <a:r>
              <a:rPr lang="en-US" sz="1500" dirty="0">
                <a:solidFill>
                  <a:srgbClr val="1E293B"/>
                </a:solidFill>
                <a:latin typeface="Calibri" pitchFamily="34" charset="0"/>
                <a:ea typeface="Calibri" pitchFamily="34" charset="-122"/>
                <a:cs typeface="Calibri" pitchFamily="34" charset="-120"/>
              </a:rPr>
              <a:t>Gora en realistisk budget</a:t>
            </a:r>
            <a:endParaRPr lang="en-US" sz="1500" dirty="0"/>
          </a:p>
          <a:p>
            <a:pPr marL="342900" indent="-342900">
              <a:buSzPct val="100000"/>
              <a:buChar char="•"/>
            </a:pPr>
            <a:r>
              <a:rPr lang="en-US" sz="1500" dirty="0">
                <a:solidFill>
                  <a:srgbClr val="1E293B"/>
                </a:solidFill>
                <a:latin typeface="Calibri" pitchFamily="34" charset="0"/>
                <a:ea typeface="Calibri" pitchFamily="34" charset="-122"/>
                <a:cs typeface="Calibri" pitchFamily="34" charset="-120"/>
              </a:rPr>
              <a:t>Forklara inkomst, skatt och utgifter</a:t>
            </a:r>
            <a:endParaRPr lang="en-US" sz="1500" dirty="0"/>
          </a:p>
          <a:p>
            <a:pPr marL="342900" indent="-342900">
              <a:buSzPct val="100000"/>
              <a:buChar char="•"/>
            </a:pPr>
            <a:r>
              <a:rPr lang="en-US" sz="1500" dirty="0">
                <a:solidFill>
                  <a:srgbClr val="1E293B"/>
                </a:solidFill>
                <a:latin typeface="Calibri" pitchFamily="34" charset="0"/>
                <a:ea typeface="Calibri" pitchFamily="34" charset="-122"/>
                <a:cs typeface="Calibri" pitchFamily="34" charset="-120"/>
              </a:rPr>
              <a:t>Resonera om privatekonomiska val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Vad hander med Alex lon?</a:t>
            </a:r>
            <a:endParaRPr lang="en-US" sz="3200" dirty="0"/>
          </a:p>
        </p:txBody>
      </p:sp>
      <p:sp>
        <p:nvSpPr>
          <p:cNvPr id="3" name="Shape 1"/>
          <p:cNvSpPr/>
          <p:nvPr/>
        </p:nvSpPr>
        <p:spPr>
          <a:xfrm>
            <a:off x="914400" y="1188720"/>
            <a:ext cx="4572000" cy="82296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4" name="Text 2"/>
          <p:cNvSpPr/>
          <p:nvPr/>
        </p:nvSpPr>
        <p:spPr>
          <a:xfrm>
            <a:off x="1188720" y="1188720"/>
            <a:ext cx="2286000" cy="822960"/>
          </a:xfrm>
          <a:prstGeom prst="rect">
            <a:avLst/>
          </a:prstGeom>
          <a:noFill/>
          <a:ln/>
        </p:spPr>
        <p:txBody>
          <a:bodyPr wrap="square" rtlCol="0" anchor="ctr"/>
          <a:lstStyle/>
          <a:p>
            <a:pPr indent="0" marL="0">
              <a:buNone/>
            </a:pPr>
            <a:r>
              <a:rPr lang="en-US" sz="1600" dirty="0">
                <a:solidFill>
                  <a:srgbClr val="1E293B"/>
                </a:solidFill>
                <a:latin typeface="Calibri" pitchFamily="34" charset="0"/>
                <a:ea typeface="Calibri" pitchFamily="34" charset="-122"/>
                <a:cs typeface="Calibri" pitchFamily="34" charset="-120"/>
              </a:rPr>
              <a:t>Bruttoloen</a:t>
            </a:r>
            <a:endParaRPr lang="en-US" sz="1600" dirty="0"/>
          </a:p>
        </p:txBody>
      </p:sp>
      <p:sp>
        <p:nvSpPr>
          <p:cNvPr id="5" name="Text 3"/>
          <p:cNvSpPr/>
          <p:nvPr/>
        </p:nvSpPr>
        <p:spPr>
          <a:xfrm>
            <a:off x="3474720" y="1188720"/>
            <a:ext cx="1828800" cy="822960"/>
          </a:xfrm>
          <a:prstGeom prst="rect">
            <a:avLst/>
          </a:prstGeom>
          <a:noFill/>
          <a:ln/>
        </p:spPr>
        <p:txBody>
          <a:bodyPr wrap="square" rtlCol="0" anchor="ctr"/>
          <a:lstStyle/>
          <a:p>
            <a:pPr algn="r" indent="0" marL="0">
              <a:buNone/>
            </a:pPr>
            <a:r>
              <a:rPr lang="en-US" sz="2200" b="1" dirty="0">
                <a:solidFill>
                  <a:srgbClr val="1C7293"/>
                </a:solidFill>
                <a:latin typeface="Georgia" pitchFamily="34" charset="0"/>
                <a:ea typeface="Georgia" pitchFamily="34" charset="-122"/>
                <a:cs typeface="Georgia" pitchFamily="34" charset="-120"/>
              </a:rPr>
              <a:t>22 000 kr</a:t>
            </a:r>
            <a:endParaRPr lang="en-US" sz="2200" dirty="0"/>
          </a:p>
        </p:txBody>
      </p:sp>
      <p:sp>
        <p:nvSpPr>
          <p:cNvPr id="6" name="Shape 4"/>
          <p:cNvSpPr/>
          <p:nvPr/>
        </p:nvSpPr>
        <p:spPr>
          <a:xfrm>
            <a:off x="914400" y="2286000"/>
            <a:ext cx="4572000" cy="82296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7" name="Text 5"/>
          <p:cNvSpPr/>
          <p:nvPr/>
        </p:nvSpPr>
        <p:spPr>
          <a:xfrm>
            <a:off x="1188720" y="2286000"/>
            <a:ext cx="2286000" cy="822960"/>
          </a:xfrm>
          <a:prstGeom prst="rect">
            <a:avLst/>
          </a:prstGeom>
          <a:noFill/>
          <a:ln/>
        </p:spPr>
        <p:txBody>
          <a:bodyPr wrap="square"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Skatt (~30%)</a:t>
            </a:r>
            <a:endParaRPr lang="en-US" sz="1600" dirty="0"/>
          </a:p>
        </p:txBody>
      </p:sp>
      <p:sp>
        <p:nvSpPr>
          <p:cNvPr id="8" name="Text 6"/>
          <p:cNvSpPr/>
          <p:nvPr/>
        </p:nvSpPr>
        <p:spPr>
          <a:xfrm>
            <a:off x="3474720" y="2286000"/>
            <a:ext cx="1828800" cy="822960"/>
          </a:xfrm>
          <a:prstGeom prst="rect">
            <a:avLst/>
          </a:prstGeom>
          <a:noFill/>
          <a:ln/>
        </p:spPr>
        <p:txBody>
          <a:bodyPr wrap="square" rtlCol="0" anchor="ctr"/>
          <a:lstStyle/>
          <a:p>
            <a:pPr algn="r" indent="0" marL="0">
              <a:buNone/>
            </a:pPr>
            <a:r>
              <a:rPr lang="en-US" sz="2200" b="1" dirty="0">
                <a:solidFill>
                  <a:srgbClr val="CC4444"/>
                </a:solidFill>
                <a:latin typeface="Georgia" pitchFamily="34" charset="0"/>
                <a:ea typeface="Georgia" pitchFamily="34" charset="-122"/>
                <a:cs typeface="Georgia" pitchFamily="34" charset="-120"/>
              </a:rPr>
              <a:t>- 4 400 kr</a:t>
            </a:r>
            <a:endParaRPr lang="en-US" sz="2200" dirty="0"/>
          </a:p>
        </p:txBody>
      </p:sp>
      <p:sp>
        <p:nvSpPr>
          <p:cNvPr id="9" name="Shape 7"/>
          <p:cNvSpPr/>
          <p:nvPr/>
        </p:nvSpPr>
        <p:spPr>
          <a:xfrm>
            <a:off x="914400" y="3383280"/>
            <a:ext cx="4572000" cy="822960"/>
          </a:xfrm>
          <a:prstGeom prst="rect">
            <a:avLst/>
          </a:prstGeom>
          <a:solidFill>
            <a:srgbClr val="E8F4F8"/>
          </a:solidFill>
          <a:ln/>
          <a:effectLst>
            <a:outerShdw sx="100000" sy="100000" kx="0" ky="0" algn="bl" rotWithShape="0" blurRad="76200" dist="25400" dir="8100000">
              <a:srgbClr val="000000">
                <a:alpha val="12000"/>
              </a:srgbClr>
            </a:outerShdw>
          </a:effectLst>
        </p:spPr>
      </p:sp>
      <p:sp>
        <p:nvSpPr>
          <p:cNvPr id="10" name="Text 8"/>
          <p:cNvSpPr/>
          <p:nvPr/>
        </p:nvSpPr>
        <p:spPr>
          <a:xfrm>
            <a:off x="1188720" y="3383280"/>
            <a:ext cx="2286000" cy="822960"/>
          </a:xfrm>
          <a:prstGeom prst="rect">
            <a:avLst/>
          </a:prstGeom>
          <a:noFill/>
          <a:ln/>
        </p:spPr>
        <p:txBody>
          <a:bodyPr wrap="square"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Nettoloen</a:t>
            </a:r>
            <a:endParaRPr lang="en-US" sz="1600" dirty="0"/>
          </a:p>
        </p:txBody>
      </p:sp>
      <p:sp>
        <p:nvSpPr>
          <p:cNvPr id="11" name="Text 9"/>
          <p:cNvSpPr/>
          <p:nvPr/>
        </p:nvSpPr>
        <p:spPr>
          <a:xfrm>
            <a:off x="3474720" y="3383280"/>
            <a:ext cx="1828800" cy="822960"/>
          </a:xfrm>
          <a:prstGeom prst="rect">
            <a:avLst/>
          </a:prstGeom>
          <a:noFill/>
          <a:ln/>
        </p:spPr>
        <p:txBody>
          <a:bodyPr wrap="square" rtlCol="0" anchor="ctr"/>
          <a:lstStyle/>
          <a:p>
            <a:pPr algn="r" indent="0" marL="0">
              <a:buNone/>
            </a:pPr>
            <a:r>
              <a:rPr lang="en-US" sz="2200" b="1" dirty="0">
                <a:solidFill>
                  <a:srgbClr val="065A82"/>
                </a:solidFill>
                <a:latin typeface="Georgia" pitchFamily="34" charset="0"/>
                <a:ea typeface="Georgia" pitchFamily="34" charset="-122"/>
                <a:cs typeface="Georgia" pitchFamily="34" charset="-120"/>
              </a:rPr>
              <a:t>= 17 600 kr</a:t>
            </a:r>
            <a:endParaRPr lang="en-US" sz="2200" dirty="0"/>
          </a:p>
        </p:txBody>
      </p:sp>
      <p:sp>
        <p:nvSpPr>
          <p:cNvPr id="12" name="Shape 10"/>
          <p:cNvSpPr/>
          <p:nvPr/>
        </p:nvSpPr>
        <p:spPr>
          <a:xfrm>
            <a:off x="6217920" y="1188720"/>
            <a:ext cx="2560320" cy="3017520"/>
          </a:xfrm>
          <a:prstGeom prst="rect">
            <a:avLst/>
          </a:prstGeom>
          <a:solidFill>
            <a:srgbClr val="21295C"/>
          </a:solidFill>
          <a:ln/>
          <a:effectLst>
            <a:outerShdw sx="100000" sy="100000" kx="0" ky="0" algn="bl" rotWithShape="0" blurRad="76200" dist="25400" dir="8100000">
              <a:srgbClr val="000000">
                <a:alpha val="12000"/>
              </a:srgbClr>
            </a:outerShdw>
          </a:effectLst>
        </p:spPr>
      </p:sp>
      <p:sp>
        <p:nvSpPr>
          <p:cNvPr id="13" name="Text 11"/>
          <p:cNvSpPr/>
          <p:nvPr/>
        </p:nvSpPr>
        <p:spPr>
          <a:xfrm>
            <a:off x="6400800" y="1371600"/>
            <a:ext cx="2194560" cy="45720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Vart gar skatten?</a:t>
            </a:r>
            <a:endParaRPr lang="en-US" sz="1600" dirty="0"/>
          </a:p>
        </p:txBody>
      </p:sp>
      <p:sp>
        <p:nvSpPr>
          <p:cNvPr id="14" name="Text 12"/>
          <p:cNvSpPr/>
          <p:nvPr/>
        </p:nvSpPr>
        <p:spPr>
          <a:xfrm>
            <a:off x="6400800" y="1920240"/>
            <a:ext cx="2194560" cy="2011680"/>
          </a:xfrm>
          <a:prstGeom prst="rect">
            <a:avLst/>
          </a:prstGeom>
          <a:noFill/>
          <a:ln/>
        </p:spPr>
        <p:txBody>
          <a:bodyPr wrap="square" rtlCol="0" anchor="ctr"/>
          <a:lstStyle/>
          <a:p>
            <a:pPr marL="342900" indent="-342900">
              <a:buSzPct val="100000"/>
              <a:buChar char="•"/>
            </a:pPr>
            <a:r>
              <a:rPr lang="en-US" sz="1200" dirty="0">
                <a:solidFill>
                  <a:srgbClr val="B0D4E8"/>
                </a:solidFill>
                <a:latin typeface="Calibri" pitchFamily="34" charset="0"/>
                <a:ea typeface="Calibri" pitchFamily="34" charset="-122"/>
                <a:cs typeface="Calibri" pitchFamily="34" charset="-120"/>
              </a:rPr>
              <a:t>Skola &amp; utbildning</a:t>
            </a:r>
            <a:endParaRPr lang="en-US" sz="1200" dirty="0"/>
          </a:p>
          <a:p>
            <a:pPr marL="342900" indent="-342900">
              <a:buSzPct val="100000"/>
              <a:buChar char="•"/>
            </a:pPr>
            <a:r>
              <a:rPr lang="en-US" sz="1200" dirty="0">
                <a:solidFill>
                  <a:srgbClr val="B0D4E8"/>
                </a:solidFill>
                <a:latin typeface="Calibri" pitchFamily="34" charset="0"/>
                <a:ea typeface="Calibri" pitchFamily="34" charset="-122"/>
                <a:cs typeface="Calibri" pitchFamily="34" charset="-120"/>
              </a:rPr>
              <a:t>Sjukvard</a:t>
            </a:r>
            <a:endParaRPr lang="en-US" sz="1200" dirty="0"/>
          </a:p>
          <a:p>
            <a:pPr marL="342900" indent="-342900">
              <a:buSzPct val="100000"/>
              <a:buChar char="•"/>
            </a:pPr>
            <a:r>
              <a:rPr lang="en-US" sz="1200" dirty="0">
                <a:solidFill>
                  <a:srgbClr val="B0D4E8"/>
                </a:solidFill>
                <a:latin typeface="Calibri" pitchFamily="34" charset="0"/>
                <a:ea typeface="Calibri" pitchFamily="34" charset="-122"/>
                <a:cs typeface="Calibri" pitchFamily="34" charset="-120"/>
              </a:rPr>
              <a:t>Kollektivtrafik</a:t>
            </a:r>
            <a:endParaRPr lang="en-US" sz="1200" dirty="0"/>
          </a:p>
          <a:p>
            <a:pPr marL="342900" indent="-342900">
              <a:buSzPct val="100000"/>
              <a:buChar char="•"/>
            </a:pPr>
            <a:r>
              <a:rPr lang="en-US" sz="1200" dirty="0">
                <a:solidFill>
                  <a:srgbClr val="B0D4E8"/>
                </a:solidFill>
                <a:latin typeface="Calibri" pitchFamily="34" charset="0"/>
                <a:ea typeface="Calibri" pitchFamily="34" charset="-122"/>
                <a:cs typeface="Calibri" pitchFamily="34" charset="-120"/>
              </a:rPr>
              <a:t>Aldrevard</a:t>
            </a:r>
            <a:endParaRPr lang="en-US" sz="1200" dirty="0"/>
          </a:p>
          <a:p>
            <a:pPr indent="0" marL="0">
              <a:buNone/>
            </a:pPr>
            <a:r>
              <a:rPr lang="en-US" sz="1400" b="1" dirty="0">
                <a:solidFill>
                  <a:srgbClr val="FFFFFF"/>
                </a:solidFill>
                <a:latin typeface="Calibri" pitchFamily="34" charset="0"/>
                <a:ea typeface="Calibri" pitchFamily="34" charset="-122"/>
                <a:cs typeface="Calibri" pitchFamily="34" charset="-120"/>
              </a:rPr>
              <a:t>= Kretsloppet!</a:t>
            </a:r>
            <a:endParaRPr lang="en-US" sz="1200" dirty="0"/>
          </a:p>
        </p:txBody>
      </p:sp>
      <p:sp>
        <p:nvSpPr>
          <p:cNvPr id="15" name="Text 13"/>
          <p:cNvSpPr/>
          <p:nvPr/>
        </p:nvSpPr>
        <p:spPr>
          <a:xfrm>
            <a:off x="548640" y="4663440"/>
            <a:ext cx="45720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Kalla: Skatteverket (skatteverket.se)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F8"/>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Vilka utgifter har Alex?</a:t>
            </a:r>
            <a:endParaRPr lang="en-US" sz="3200" dirty="0"/>
          </a:p>
        </p:txBody>
      </p:sp>
      <p:sp>
        <p:nvSpPr>
          <p:cNvPr id="3" name="Shape 1"/>
          <p:cNvSpPr/>
          <p:nvPr/>
        </p:nvSpPr>
        <p:spPr>
          <a:xfrm>
            <a:off x="457200" y="1188720"/>
            <a:ext cx="38404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1188720"/>
            <a:ext cx="3840480" cy="54864"/>
          </a:xfrm>
          <a:prstGeom prst="rect">
            <a:avLst/>
          </a:prstGeom>
          <a:solidFill>
            <a:srgbClr val="065A82"/>
          </a:solidFill>
          <a:ln/>
        </p:spPr>
      </p:sp>
      <p:sp>
        <p:nvSpPr>
          <p:cNvPr id="5" name="Text 3"/>
          <p:cNvSpPr/>
          <p:nvPr/>
        </p:nvSpPr>
        <p:spPr>
          <a:xfrm>
            <a:off x="640080" y="1371600"/>
            <a:ext cx="3474720" cy="457200"/>
          </a:xfrm>
          <a:prstGeom prst="rect">
            <a:avLst/>
          </a:prstGeom>
          <a:noFill/>
          <a:ln/>
        </p:spPr>
        <p:txBody>
          <a:bodyPr wrap="square" rtlCol="0" anchor="ctr"/>
          <a:lstStyle/>
          <a:p>
            <a:pPr indent="0" marL="0">
              <a:buNone/>
            </a:pPr>
            <a:r>
              <a:rPr lang="en-US" sz="2000" b="1" dirty="0">
                <a:solidFill>
                  <a:srgbClr val="065A82"/>
                </a:solidFill>
                <a:latin typeface="Georgia" pitchFamily="34" charset="0"/>
                <a:ea typeface="Georgia" pitchFamily="34" charset="-122"/>
                <a:cs typeface="Georgia" pitchFamily="34" charset="-120"/>
              </a:rPr>
              <a:t>Fasta utgifter</a:t>
            </a:r>
            <a:endParaRPr lang="en-US" sz="2000" dirty="0"/>
          </a:p>
        </p:txBody>
      </p:sp>
      <p:sp>
        <p:nvSpPr>
          <p:cNvPr id="6" name="Text 4"/>
          <p:cNvSpPr/>
          <p:nvPr/>
        </p:nvSpPr>
        <p:spPr>
          <a:xfrm>
            <a:off x="640080" y="1828800"/>
            <a:ext cx="3474720" cy="27432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Samma belopp varje manad</a:t>
            </a:r>
            <a:endParaRPr lang="en-US" sz="1200" dirty="0"/>
          </a:p>
        </p:txBody>
      </p:sp>
      <p:sp>
        <p:nvSpPr>
          <p:cNvPr id="7" name="Text 5"/>
          <p:cNvSpPr/>
          <p:nvPr/>
        </p:nvSpPr>
        <p:spPr>
          <a:xfrm>
            <a:off x="640080" y="2286000"/>
            <a:ext cx="3474720" cy="18288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Hyra</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Forsakring</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Telefon</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Kollektivtrafik</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El</a:t>
            </a:r>
            <a:endParaRPr lang="en-US" sz="1400" dirty="0"/>
          </a:p>
        </p:txBody>
      </p:sp>
      <p:sp>
        <p:nvSpPr>
          <p:cNvPr id="8" name="Shape 6"/>
          <p:cNvSpPr/>
          <p:nvPr/>
        </p:nvSpPr>
        <p:spPr>
          <a:xfrm>
            <a:off x="4846320" y="1188720"/>
            <a:ext cx="38404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846320" y="1188720"/>
            <a:ext cx="3840480" cy="54864"/>
          </a:xfrm>
          <a:prstGeom prst="rect">
            <a:avLst/>
          </a:prstGeom>
          <a:solidFill>
            <a:srgbClr val="0891B2"/>
          </a:solidFill>
          <a:ln/>
        </p:spPr>
      </p:sp>
      <p:sp>
        <p:nvSpPr>
          <p:cNvPr id="10" name="Text 8"/>
          <p:cNvSpPr/>
          <p:nvPr/>
        </p:nvSpPr>
        <p:spPr>
          <a:xfrm>
            <a:off x="5029200" y="1371600"/>
            <a:ext cx="3474720" cy="457200"/>
          </a:xfrm>
          <a:prstGeom prst="rect">
            <a:avLst/>
          </a:prstGeom>
          <a:noFill/>
          <a:ln/>
        </p:spPr>
        <p:txBody>
          <a:bodyPr wrap="square" rtlCol="0" anchor="ctr"/>
          <a:lstStyle/>
          <a:p>
            <a:pPr indent="0" marL="0">
              <a:buNone/>
            </a:pPr>
            <a:r>
              <a:rPr lang="en-US" sz="2000" b="1" dirty="0">
                <a:solidFill>
                  <a:srgbClr val="0891B2"/>
                </a:solidFill>
                <a:latin typeface="Georgia" pitchFamily="34" charset="0"/>
                <a:ea typeface="Georgia" pitchFamily="34" charset="-122"/>
                <a:cs typeface="Georgia" pitchFamily="34" charset="-120"/>
              </a:rPr>
              <a:t>Rorliga utgifter</a:t>
            </a:r>
            <a:endParaRPr lang="en-US" sz="2000" dirty="0"/>
          </a:p>
        </p:txBody>
      </p:sp>
      <p:sp>
        <p:nvSpPr>
          <p:cNvPr id="11" name="Text 9"/>
          <p:cNvSpPr/>
          <p:nvPr/>
        </p:nvSpPr>
        <p:spPr>
          <a:xfrm>
            <a:off x="5029200" y="1828800"/>
            <a:ext cx="3474720" cy="27432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Varierar - har kan du paverka!</a:t>
            </a:r>
            <a:endParaRPr lang="en-US" sz="1200" dirty="0"/>
          </a:p>
        </p:txBody>
      </p:sp>
      <p:sp>
        <p:nvSpPr>
          <p:cNvPr id="12" name="Text 10"/>
          <p:cNvSpPr/>
          <p:nvPr/>
        </p:nvSpPr>
        <p:spPr>
          <a:xfrm>
            <a:off x="5029200" y="2286000"/>
            <a:ext cx="3474720" cy="18288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Mat</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Klader</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Noje/uteliv</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Sparande</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Ovriga kop</a:t>
            </a:r>
            <a:endParaRPr lang="en-US" sz="1400" dirty="0"/>
          </a:p>
        </p:txBody>
      </p:sp>
      <p:sp>
        <p:nvSpPr>
          <p:cNvPr id="13" name="Text 11"/>
          <p:cNvSpPr/>
          <p:nvPr/>
        </p:nvSpPr>
        <p:spPr>
          <a:xfrm>
            <a:off x="548640" y="4572000"/>
            <a:ext cx="8046720"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Kontrollfragor: Ge ett exempel pa en fast utgift. Varfor ar sparande en utgift i budgeten?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57200"/>
            <a:ext cx="8046720" cy="548640"/>
          </a:xfrm>
          <a:prstGeom prst="rect">
            <a:avLst/>
          </a:prstGeom>
          <a:noFill/>
          <a:ln/>
        </p:spPr>
        <p:txBody>
          <a:bodyPr wrap="square" rtlCol="0" anchor="ctr"/>
          <a:lstStyle/>
          <a:p>
            <a:pPr indent="0" marL="0">
              <a:buNone/>
            </a:pPr>
            <a:r>
              <a:rPr lang="en-US" sz="1600" spc="200" kern="0" dirty="0">
                <a:solidFill>
                  <a:srgbClr val="8BA8C0"/>
                </a:solidFill>
                <a:latin typeface="Calibri" pitchFamily="34" charset="0"/>
                <a:ea typeface="Calibri" pitchFamily="34" charset="-122"/>
                <a:cs typeface="Calibri" pitchFamily="34" charset="-120"/>
              </a:rPr>
              <a:t>Diskutera med din granne (2 min)</a:t>
            </a:r>
            <a:endParaRPr lang="en-US" sz="1600" dirty="0"/>
          </a:p>
        </p:txBody>
      </p:sp>
      <p:sp>
        <p:nvSpPr>
          <p:cNvPr id="3" name="Text 1"/>
          <p:cNvSpPr/>
          <p:nvPr/>
        </p:nvSpPr>
        <p:spPr>
          <a:xfrm>
            <a:off x="914400" y="1371600"/>
            <a:ext cx="7315200" cy="182880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Om Alex far 17 600 kr efter skatt - hur mycket tror du gar till hyra? Till mat? Vad blir kvar?</a:t>
            </a:r>
            <a:endParaRPr lang="en-US" sz="2400" dirty="0"/>
          </a:p>
        </p:txBody>
      </p:sp>
      <p:sp>
        <p:nvSpPr>
          <p:cNvPr id="4" name="Text 2"/>
          <p:cNvSpPr/>
          <p:nvPr/>
        </p:nvSpPr>
        <p:spPr>
          <a:xfrm>
            <a:off x="914400" y="3657600"/>
            <a:ext cx="7315200" cy="457200"/>
          </a:xfrm>
          <a:prstGeom prst="rect">
            <a:avLst/>
          </a:prstGeom>
          <a:noFill/>
          <a:ln/>
        </p:spPr>
        <p:txBody>
          <a:bodyPr wrap="square" rtlCol="0" anchor="ctr"/>
          <a:lstStyle/>
          <a:p>
            <a:pPr algn="ctr" indent="0" marL="0">
              <a:buNone/>
            </a:pPr>
            <a:r>
              <a:rPr lang="en-US" sz="1400" i="1" dirty="0">
                <a:solidFill>
                  <a:srgbClr val="8BA8C0"/>
                </a:solidFill>
                <a:latin typeface="Calibri" pitchFamily="34" charset="0"/>
                <a:ea typeface="Calibri" pitchFamily="34" charset="-122"/>
                <a:cs typeface="Calibri" pitchFamily="34" charset="-120"/>
              </a:rPr>
              <a:t>Var beredd att dela ert resonemang.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Tre satt att leva pa 17 600 kr</a:t>
            </a:r>
            <a:endParaRPr lang="en-US" sz="3200" dirty="0"/>
          </a:p>
        </p:txBody>
      </p:sp>
      <p:sp>
        <p:nvSpPr>
          <p:cNvPr id="3" name="Shape 1"/>
          <p:cNvSpPr/>
          <p:nvPr/>
        </p:nvSpPr>
        <p:spPr>
          <a:xfrm>
            <a:off x="365760" y="1188720"/>
            <a:ext cx="2743200" cy="320040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4" name="Shape 2"/>
          <p:cNvSpPr/>
          <p:nvPr/>
        </p:nvSpPr>
        <p:spPr>
          <a:xfrm>
            <a:off x="365760" y="1188720"/>
            <a:ext cx="2743200" cy="54864"/>
          </a:xfrm>
          <a:prstGeom prst="rect">
            <a:avLst/>
          </a:prstGeom>
          <a:solidFill>
            <a:srgbClr val="0D9488"/>
          </a:solidFill>
          <a:ln/>
        </p:spPr>
      </p:sp>
      <p:sp>
        <p:nvSpPr>
          <p:cNvPr id="5" name="Text 3"/>
          <p:cNvSpPr/>
          <p:nvPr/>
        </p:nvSpPr>
        <p:spPr>
          <a:xfrm>
            <a:off x="365760" y="1371600"/>
            <a:ext cx="2743200" cy="457200"/>
          </a:xfrm>
          <a:prstGeom prst="rect">
            <a:avLst/>
          </a:prstGeom>
          <a:noFill/>
          <a:ln/>
        </p:spPr>
        <p:txBody>
          <a:bodyPr wrap="square" rtlCol="0" anchor="ctr"/>
          <a:lstStyle/>
          <a:p>
            <a:pPr algn="ctr" indent="0" marL="0">
              <a:buNone/>
            </a:pPr>
            <a:r>
              <a:rPr lang="en-US" sz="1800" b="1" dirty="0">
                <a:solidFill>
                  <a:srgbClr val="0D9488"/>
                </a:solidFill>
                <a:latin typeface="Georgia" pitchFamily="34" charset="0"/>
                <a:ea typeface="Georgia" pitchFamily="34" charset="-122"/>
                <a:cs typeface="Georgia" pitchFamily="34" charset="-120"/>
              </a:rPr>
              <a:t>Sparsam Alex</a:t>
            </a:r>
            <a:endParaRPr lang="en-US" sz="1800" dirty="0"/>
          </a:p>
        </p:txBody>
      </p:sp>
      <p:sp>
        <p:nvSpPr>
          <p:cNvPr id="6" name="Text 4"/>
          <p:cNvSpPr/>
          <p:nvPr/>
        </p:nvSpPr>
        <p:spPr>
          <a:xfrm>
            <a:off x="548640" y="2011680"/>
            <a:ext cx="2377440" cy="914400"/>
          </a:xfrm>
          <a:prstGeom prst="rect">
            <a:avLst/>
          </a:prstGeom>
          <a:noFill/>
          <a:ln/>
        </p:spPr>
        <p:txBody>
          <a:bodyPr wrap="square"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Delar lagenhet, lagar mat, sparar</a:t>
            </a:r>
            <a:endParaRPr lang="en-US" sz="1400" dirty="0"/>
          </a:p>
        </p:txBody>
      </p:sp>
      <p:sp>
        <p:nvSpPr>
          <p:cNvPr id="7" name="Shape 5"/>
          <p:cNvSpPr/>
          <p:nvPr/>
        </p:nvSpPr>
        <p:spPr>
          <a:xfrm>
            <a:off x="640080" y="3200400"/>
            <a:ext cx="2194560" cy="640080"/>
          </a:xfrm>
          <a:prstGeom prst="rect">
            <a:avLst/>
          </a:prstGeom>
          <a:solidFill>
            <a:srgbClr val="FFFFFF"/>
          </a:solidFill>
          <a:ln/>
        </p:spPr>
      </p:sp>
      <p:sp>
        <p:nvSpPr>
          <p:cNvPr id="8" name="Text 6"/>
          <p:cNvSpPr/>
          <p:nvPr/>
        </p:nvSpPr>
        <p:spPr>
          <a:xfrm>
            <a:off x="640080" y="3200400"/>
            <a:ext cx="2194560" cy="640080"/>
          </a:xfrm>
          <a:prstGeom prst="rect">
            <a:avLst/>
          </a:prstGeom>
          <a:noFill/>
          <a:ln/>
        </p:spPr>
        <p:txBody>
          <a:bodyPr wrap="square"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Sparar 2 500 kr/man</a:t>
            </a:r>
            <a:endParaRPr lang="en-US" sz="1300" dirty="0"/>
          </a:p>
        </p:txBody>
      </p:sp>
      <p:sp>
        <p:nvSpPr>
          <p:cNvPr id="9" name="Shape 7"/>
          <p:cNvSpPr/>
          <p:nvPr/>
        </p:nvSpPr>
        <p:spPr>
          <a:xfrm>
            <a:off x="3291840" y="1188720"/>
            <a:ext cx="2743200" cy="320040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10" name="Shape 8"/>
          <p:cNvSpPr/>
          <p:nvPr/>
        </p:nvSpPr>
        <p:spPr>
          <a:xfrm>
            <a:off x="3291840" y="1188720"/>
            <a:ext cx="2743200" cy="54864"/>
          </a:xfrm>
          <a:prstGeom prst="rect">
            <a:avLst/>
          </a:prstGeom>
          <a:solidFill>
            <a:srgbClr val="DC2626"/>
          </a:solidFill>
          <a:ln/>
        </p:spPr>
      </p:sp>
      <p:sp>
        <p:nvSpPr>
          <p:cNvPr id="11" name="Text 9"/>
          <p:cNvSpPr/>
          <p:nvPr/>
        </p:nvSpPr>
        <p:spPr>
          <a:xfrm>
            <a:off x="3291840" y="1371600"/>
            <a:ext cx="2743200" cy="457200"/>
          </a:xfrm>
          <a:prstGeom prst="rect">
            <a:avLst/>
          </a:prstGeom>
          <a:noFill/>
          <a:ln/>
        </p:spPr>
        <p:txBody>
          <a:bodyPr wrap="square" rtlCol="0" anchor="ctr"/>
          <a:lstStyle/>
          <a:p>
            <a:pPr algn="ctr" indent="0" marL="0">
              <a:buNone/>
            </a:pPr>
            <a:r>
              <a:rPr lang="en-US" sz="1800" b="1" dirty="0">
                <a:solidFill>
                  <a:srgbClr val="DC2626"/>
                </a:solidFill>
                <a:latin typeface="Georgia" pitchFamily="34" charset="0"/>
                <a:ea typeface="Georgia" pitchFamily="34" charset="-122"/>
                <a:cs typeface="Georgia" pitchFamily="34" charset="-120"/>
              </a:rPr>
              <a:t>Har-och-nu-Alex</a:t>
            </a:r>
            <a:endParaRPr lang="en-US" sz="1800" dirty="0"/>
          </a:p>
        </p:txBody>
      </p:sp>
      <p:sp>
        <p:nvSpPr>
          <p:cNvPr id="12" name="Text 10"/>
          <p:cNvSpPr/>
          <p:nvPr/>
        </p:nvSpPr>
        <p:spPr>
          <a:xfrm>
            <a:off x="3474720" y="2011680"/>
            <a:ext cx="2377440" cy="914400"/>
          </a:xfrm>
          <a:prstGeom prst="rect">
            <a:avLst/>
          </a:prstGeom>
          <a:noFill/>
          <a:ln/>
        </p:spPr>
        <p:txBody>
          <a:bodyPr wrap="square"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Egen etta, ater ute, fullt socialliv</a:t>
            </a:r>
            <a:endParaRPr lang="en-US" sz="1400" dirty="0"/>
          </a:p>
        </p:txBody>
      </p:sp>
      <p:sp>
        <p:nvSpPr>
          <p:cNvPr id="13" name="Shape 11"/>
          <p:cNvSpPr/>
          <p:nvPr/>
        </p:nvSpPr>
        <p:spPr>
          <a:xfrm>
            <a:off x="3566160" y="3200400"/>
            <a:ext cx="2194560" cy="640080"/>
          </a:xfrm>
          <a:prstGeom prst="rect">
            <a:avLst/>
          </a:prstGeom>
          <a:solidFill>
            <a:srgbClr val="FFFFFF"/>
          </a:solidFill>
          <a:ln/>
        </p:spPr>
      </p:sp>
      <p:sp>
        <p:nvSpPr>
          <p:cNvPr id="14" name="Text 12"/>
          <p:cNvSpPr/>
          <p:nvPr/>
        </p:nvSpPr>
        <p:spPr>
          <a:xfrm>
            <a:off x="3566160" y="3200400"/>
            <a:ext cx="2194560" cy="640080"/>
          </a:xfrm>
          <a:prstGeom prst="rect">
            <a:avLst/>
          </a:prstGeom>
          <a:noFill/>
          <a:ln/>
        </p:spPr>
        <p:txBody>
          <a:bodyPr wrap="square" rtlCol="0" anchor="ctr"/>
          <a:lstStyle/>
          <a:p>
            <a:pPr algn="ctr" indent="0" marL="0">
              <a:buNone/>
            </a:pPr>
            <a:r>
              <a:rPr lang="en-US" sz="1300" b="1" dirty="0">
                <a:solidFill>
                  <a:srgbClr val="DC2626"/>
                </a:solidFill>
                <a:latin typeface="Calibri" pitchFamily="34" charset="0"/>
                <a:ea typeface="Calibri" pitchFamily="34" charset="-122"/>
                <a:cs typeface="Calibri" pitchFamily="34" charset="-120"/>
              </a:rPr>
              <a:t>Sparar 0 kr/man</a:t>
            </a:r>
            <a:endParaRPr lang="en-US" sz="1300" dirty="0"/>
          </a:p>
        </p:txBody>
      </p:sp>
      <p:sp>
        <p:nvSpPr>
          <p:cNvPr id="15" name="Shape 13"/>
          <p:cNvSpPr/>
          <p:nvPr/>
        </p:nvSpPr>
        <p:spPr>
          <a:xfrm>
            <a:off x="6217920" y="1188720"/>
            <a:ext cx="2743200" cy="320040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16" name="Shape 14"/>
          <p:cNvSpPr/>
          <p:nvPr/>
        </p:nvSpPr>
        <p:spPr>
          <a:xfrm>
            <a:off x="6217920" y="1188720"/>
            <a:ext cx="2743200" cy="54864"/>
          </a:xfrm>
          <a:prstGeom prst="rect">
            <a:avLst/>
          </a:prstGeom>
          <a:solidFill>
            <a:srgbClr val="7C3AED"/>
          </a:solidFill>
          <a:ln/>
        </p:spPr>
      </p:sp>
      <p:sp>
        <p:nvSpPr>
          <p:cNvPr id="17" name="Text 15"/>
          <p:cNvSpPr/>
          <p:nvPr/>
        </p:nvSpPr>
        <p:spPr>
          <a:xfrm>
            <a:off x="6217920" y="1371600"/>
            <a:ext cx="2743200" cy="457200"/>
          </a:xfrm>
          <a:prstGeom prst="rect">
            <a:avLst/>
          </a:prstGeom>
          <a:noFill/>
          <a:ln/>
        </p:spPr>
        <p:txBody>
          <a:bodyPr wrap="square" rtlCol="0" anchor="ctr"/>
          <a:lstStyle/>
          <a:p>
            <a:pPr algn="ctr" indent="0" marL="0">
              <a:buNone/>
            </a:pPr>
            <a:r>
              <a:rPr lang="en-US" sz="1800" b="1" dirty="0">
                <a:solidFill>
                  <a:srgbClr val="7C3AED"/>
                </a:solidFill>
                <a:latin typeface="Georgia" pitchFamily="34" charset="0"/>
                <a:ea typeface="Georgia" pitchFamily="34" charset="-122"/>
                <a:cs typeface="Georgia" pitchFamily="34" charset="-120"/>
              </a:rPr>
              <a:t>Investerar-Alex</a:t>
            </a:r>
            <a:endParaRPr lang="en-US" sz="1800" dirty="0"/>
          </a:p>
        </p:txBody>
      </p:sp>
      <p:sp>
        <p:nvSpPr>
          <p:cNvPr id="18" name="Text 16"/>
          <p:cNvSpPr/>
          <p:nvPr/>
        </p:nvSpPr>
        <p:spPr>
          <a:xfrm>
            <a:off x="6400800" y="2011680"/>
            <a:ext cx="2377440" cy="914400"/>
          </a:xfrm>
          <a:prstGeom prst="rect">
            <a:avLst/>
          </a:prstGeom>
          <a:noFill/>
          <a:ln/>
        </p:spPr>
        <p:txBody>
          <a:bodyPr wrap="square"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Delar lagenhet, satsar pa framtiden</a:t>
            </a:r>
            <a:endParaRPr lang="en-US" sz="1400" dirty="0"/>
          </a:p>
        </p:txBody>
      </p:sp>
      <p:sp>
        <p:nvSpPr>
          <p:cNvPr id="19" name="Shape 17"/>
          <p:cNvSpPr/>
          <p:nvPr/>
        </p:nvSpPr>
        <p:spPr>
          <a:xfrm>
            <a:off x="6492240" y="3200400"/>
            <a:ext cx="2194560" cy="640080"/>
          </a:xfrm>
          <a:prstGeom prst="rect">
            <a:avLst/>
          </a:prstGeom>
          <a:solidFill>
            <a:srgbClr val="FFFFFF"/>
          </a:solidFill>
          <a:ln/>
        </p:spPr>
      </p:sp>
      <p:sp>
        <p:nvSpPr>
          <p:cNvPr id="20" name="Text 18"/>
          <p:cNvSpPr/>
          <p:nvPr/>
        </p:nvSpPr>
        <p:spPr>
          <a:xfrm>
            <a:off x="6492240" y="3200400"/>
            <a:ext cx="2194560" cy="640080"/>
          </a:xfrm>
          <a:prstGeom prst="rect">
            <a:avLst/>
          </a:prstGeom>
          <a:noFill/>
          <a:ln/>
        </p:spPr>
        <p:txBody>
          <a:bodyPr wrap="square" rtlCol="0" anchor="ctr"/>
          <a:lstStyle/>
          <a:p>
            <a:pPr algn="ctr" indent="0" marL="0">
              <a:buNone/>
            </a:pPr>
            <a:r>
              <a:rPr lang="en-US" sz="1300" b="1" dirty="0">
                <a:solidFill>
                  <a:srgbClr val="7C3AED"/>
                </a:solidFill>
                <a:latin typeface="Calibri" pitchFamily="34" charset="0"/>
                <a:ea typeface="Calibri" pitchFamily="34" charset="-122"/>
                <a:cs typeface="Calibri" pitchFamily="34" charset="-120"/>
              </a:rPr>
              <a:t>3 000 kr till korkort/studier</a:t>
            </a:r>
            <a:endParaRPr lang="en-US" sz="1300" dirty="0"/>
          </a:p>
        </p:txBody>
      </p:sp>
      <p:sp>
        <p:nvSpPr>
          <p:cNvPr id="21" name="Text 19"/>
          <p:cNvSpPr/>
          <p:nvPr/>
        </p:nvSpPr>
        <p:spPr>
          <a:xfrm>
            <a:off x="548640" y="4572000"/>
            <a:ext cx="804672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Gemensamt: telefon 399 kr + forsakring 150 kr + SL 950 kr + el 400 kr = 1 899 kr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5F8"/>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Er uppgift: Gor Alex budget</a:t>
            </a:r>
            <a:endParaRPr lang="en-US" sz="3200" dirty="0"/>
          </a:p>
        </p:txBody>
      </p:sp>
      <p:sp>
        <p:nvSpPr>
          <p:cNvPr id="3" name="Shape 1"/>
          <p:cNvSpPr/>
          <p:nvPr/>
        </p:nvSpPr>
        <p:spPr>
          <a:xfrm>
            <a:off x="731520" y="1188720"/>
            <a:ext cx="548640" cy="548640"/>
          </a:xfrm>
          <a:prstGeom prst="rect">
            <a:avLst/>
          </a:prstGeom>
          <a:solidFill>
            <a:srgbClr val="065A82"/>
          </a:solidFill>
          <a:ln/>
        </p:spPr>
      </p:sp>
      <p:sp>
        <p:nvSpPr>
          <p:cNvPr id="4" name="Text 2"/>
          <p:cNvSpPr/>
          <p:nvPr/>
        </p:nvSpPr>
        <p:spPr>
          <a:xfrm>
            <a:off x="731520" y="1188720"/>
            <a:ext cx="54864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Text 3"/>
          <p:cNvSpPr/>
          <p:nvPr/>
        </p:nvSpPr>
        <p:spPr>
          <a:xfrm>
            <a:off x="1463040" y="1188720"/>
            <a:ext cx="6949440" cy="54864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Rakna ihop alla fasta utgifter for BADA livsstilarna</a:t>
            </a:r>
            <a:endParaRPr lang="en-US" sz="1600" dirty="0"/>
          </a:p>
        </p:txBody>
      </p:sp>
      <p:sp>
        <p:nvSpPr>
          <p:cNvPr id="6" name="Shape 4"/>
          <p:cNvSpPr/>
          <p:nvPr/>
        </p:nvSpPr>
        <p:spPr>
          <a:xfrm>
            <a:off x="731520" y="2286000"/>
            <a:ext cx="548640" cy="548640"/>
          </a:xfrm>
          <a:prstGeom prst="rect">
            <a:avLst/>
          </a:prstGeom>
          <a:solidFill>
            <a:srgbClr val="065A82"/>
          </a:solidFill>
          <a:ln/>
        </p:spPr>
      </p:sp>
      <p:sp>
        <p:nvSpPr>
          <p:cNvPr id="7" name="Text 5"/>
          <p:cNvSpPr/>
          <p:nvPr/>
        </p:nvSpPr>
        <p:spPr>
          <a:xfrm>
            <a:off x="731520" y="2286000"/>
            <a:ext cx="54864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8" name="Text 6"/>
          <p:cNvSpPr/>
          <p:nvPr/>
        </p:nvSpPr>
        <p:spPr>
          <a:xfrm>
            <a:off x="1463040" y="2286000"/>
            <a:ext cx="6949440" cy="54864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Lagg till rorliga utgifter - hur mycket blir kvar?</a:t>
            </a:r>
            <a:endParaRPr lang="en-US" sz="1600" dirty="0"/>
          </a:p>
        </p:txBody>
      </p:sp>
      <p:sp>
        <p:nvSpPr>
          <p:cNvPr id="9" name="Shape 7"/>
          <p:cNvSpPr/>
          <p:nvPr/>
        </p:nvSpPr>
        <p:spPr>
          <a:xfrm>
            <a:off x="731520" y="3383280"/>
            <a:ext cx="548640" cy="548640"/>
          </a:xfrm>
          <a:prstGeom prst="rect">
            <a:avLst/>
          </a:prstGeom>
          <a:solidFill>
            <a:srgbClr val="065A82"/>
          </a:solidFill>
          <a:ln/>
        </p:spPr>
      </p:sp>
      <p:sp>
        <p:nvSpPr>
          <p:cNvPr id="10" name="Text 8"/>
          <p:cNvSpPr/>
          <p:nvPr/>
        </p:nvSpPr>
        <p:spPr>
          <a:xfrm>
            <a:off x="731520" y="3383280"/>
            <a:ext cx="54864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1" name="Text 9"/>
          <p:cNvSpPr/>
          <p:nvPr/>
        </p:nvSpPr>
        <p:spPr>
          <a:xfrm>
            <a:off x="1463040" y="3383280"/>
            <a:ext cx="6949440" cy="54864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Jamfor: Vad vinner och forlorar Alex med respektive val?</a:t>
            </a:r>
            <a:endParaRPr lang="en-US" sz="1600" dirty="0"/>
          </a:p>
        </p:txBody>
      </p:sp>
      <p:sp>
        <p:nvSpPr>
          <p:cNvPr id="12" name="Shape 10"/>
          <p:cNvSpPr/>
          <p:nvPr/>
        </p:nvSpPr>
        <p:spPr>
          <a:xfrm>
            <a:off x="731520" y="3931920"/>
            <a:ext cx="768096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731520" y="3931920"/>
            <a:ext cx="54864" cy="822960"/>
          </a:xfrm>
          <a:prstGeom prst="rect">
            <a:avLst/>
          </a:prstGeom>
          <a:solidFill>
            <a:srgbClr val="0891B2"/>
          </a:solidFill>
          <a:ln/>
        </p:spPr>
      </p:sp>
      <p:sp>
        <p:nvSpPr>
          <p:cNvPr id="14" name="Text 12"/>
          <p:cNvSpPr/>
          <p:nvPr/>
        </p:nvSpPr>
        <p:spPr>
          <a:xfrm>
            <a:off x="1097280" y="3931920"/>
            <a:ext cx="7132320" cy="82296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Ni har 15 minuter. Borja med steg 1 - se till att siffrorna stammer innan ni jamfor!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57200"/>
            <a:ext cx="8046720" cy="548640"/>
          </a:xfrm>
          <a:prstGeom prst="rect">
            <a:avLst/>
          </a:prstGeom>
          <a:noFill/>
          <a:ln/>
        </p:spPr>
        <p:txBody>
          <a:bodyPr wrap="square" rtlCol="0" anchor="ctr"/>
          <a:lstStyle/>
          <a:p>
            <a:pPr indent="0" marL="0">
              <a:buNone/>
            </a:pPr>
            <a:r>
              <a:rPr lang="en-US" sz="1600" spc="200" kern="0" dirty="0">
                <a:solidFill>
                  <a:srgbClr val="8BA8C0"/>
                </a:solidFill>
                <a:latin typeface="Calibri" pitchFamily="34" charset="0"/>
                <a:ea typeface="Calibri" pitchFamily="34" charset="-122"/>
                <a:cs typeface="Calibri" pitchFamily="34" charset="-120"/>
              </a:rPr>
              <a:t>Diskutera i paret (3 min)</a:t>
            </a:r>
            <a:endParaRPr lang="en-US" sz="1600" dirty="0"/>
          </a:p>
        </p:txBody>
      </p:sp>
      <p:sp>
        <p:nvSpPr>
          <p:cNvPr id="3" name="Text 1"/>
          <p:cNvSpPr/>
          <p:nvPr/>
        </p:nvSpPr>
        <p:spPr>
          <a:xfrm>
            <a:off x="914400" y="1188720"/>
            <a:ext cx="7315200" cy="914400"/>
          </a:xfrm>
          <a:prstGeom prst="rect">
            <a:avLst/>
          </a:prstGeom>
          <a:noFill/>
          <a:ln/>
        </p:spPr>
        <p:txBody>
          <a:bodyPr wrap="square"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Vilken livsstil ar 'smartast'?</a:t>
            </a:r>
            <a:endParaRPr lang="en-US" sz="3000" dirty="0"/>
          </a:p>
        </p:txBody>
      </p:sp>
      <p:sp>
        <p:nvSpPr>
          <p:cNvPr id="4" name="Text 2"/>
          <p:cNvSpPr/>
          <p:nvPr/>
        </p:nvSpPr>
        <p:spPr>
          <a:xfrm>
            <a:off x="914400" y="2286000"/>
            <a:ext cx="7315200" cy="2286000"/>
          </a:xfrm>
          <a:prstGeom prst="rect">
            <a:avLst/>
          </a:prstGeom>
          <a:noFill/>
          <a:ln/>
        </p:spPr>
        <p:txBody>
          <a:bodyPr wrap="square" rtlCol="0" anchor="ctr"/>
          <a:lstStyle/>
          <a:p>
            <a:pPr algn="ctr" indent="0" marL="0">
              <a:buNone/>
            </a:pPr>
            <a:r>
              <a:rPr lang="en-US" sz="1600" dirty="0">
                <a:solidFill>
                  <a:srgbClr val="B0D4E8"/>
                </a:solidFill>
                <a:latin typeface="Calibri" pitchFamily="34" charset="0"/>
                <a:ea typeface="Calibri" pitchFamily="34" charset="-122"/>
                <a:cs typeface="Calibri" pitchFamily="34" charset="-120"/>
              </a:rPr>
              <a:t>Tanke 1: Smartast for vem? Pa kort eller lang sikt?</a:t>
            </a:r>
            <a:endParaRPr lang="en-US" sz="1600" dirty="0"/>
          </a:p>
          <a:p>
            <a:pPr algn="ctr" indent="0" marL="0">
              <a:buNone/>
            </a:pPr>
            <a:endParaRPr lang="en-US" sz="1600" dirty="0"/>
          </a:p>
          <a:p>
            <a:pPr algn="ctr" indent="0" marL="0">
              <a:buNone/>
            </a:pPr>
            <a:r>
              <a:rPr lang="en-US" sz="1600" dirty="0">
                <a:solidFill>
                  <a:srgbClr val="B0D4E8"/>
                </a:solidFill>
                <a:latin typeface="Calibri" pitchFamily="34" charset="0"/>
                <a:ea typeface="Calibri" pitchFamily="34" charset="-122"/>
                <a:cs typeface="Calibri" pitchFamily="34" charset="-120"/>
              </a:rPr>
              <a:t>Tanke 2: Vilka varderingar ligger bakom varje val?</a:t>
            </a:r>
            <a:endParaRPr lang="en-US" sz="1600" dirty="0"/>
          </a:p>
          <a:p>
            <a:pPr algn="ctr" indent="0" marL="0">
              <a:buNone/>
            </a:pPr>
            <a:endParaRPr lang="en-US" sz="1600" dirty="0"/>
          </a:p>
          <a:p>
            <a:pPr algn="ctr" indent="0" marL="0">
              <a:buNone/>
            </a:pPr>
            <a:r>
              <a:rPr lang="en-US" sz="1600" dirty="0">
                <a:solidFill>
                  <a:srgbClr val="B0D4E8"/>
                </a:solidFill>
                <a:latin typeface="Calibri" pitchFamily="34" charset="0"/>
                <a:ea typeface="Calibri" pitchFamily="34" charset="-122"/>
                <a:cs typeface="Calibri" pitchFamily="34" charset="-120"/>
              </a:rPr>
              <a:t>Tanke 3: Har Alex verkligen ett fritt val?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Argumentera skriftligt</a:t>
            </a:r>
            <a:endParaRPr lang="en-US" sz="3200" dirty="0"/>
          </a:p>
        </p:txBody>
      </p:sp>
      <p:sp>
        <p:nvSpPr>
          <p:cNvPr id="3" name="Shape 1"/>
          <p:cNvSpPr/>
          <p:nvPr/>
        </p:nvSpPr>
        <p:spPr>
          <a:xfrm>
            <a:off x="548640" y="1097280"/>
            <a:ext cx="8046720" cy="228600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4" name="Text 2"/>
          <p:cNvSpPr/>
          <p:nvPr/>
        </p:nvSpPr>
        <p:spPr>
          <a:xfrm>
            <a:off x="731520" y="1188720"/>
            <a:ext cx="768096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Skriv ett kort svar (5 min):</a:t>
            </a:r>
            <a:endParaRPr lang="en-US" sz="1400" dirty="0"/>
          </a:p>
        </p:txBody>
      </p:sp>
      <p:sp>
        <p:nvSpPr>
          <p:cNvPr id="5" name="Text 3"/>
          <p:cNvSpPr/>
          <p:nvPr/>
        </p:nvSpPr>
        <p:spPr>
          <a:xfrm>
            <a:off x="731520" y="1645920"/>
            <a:ext cx="7680960" cy="1371600"/>
          </a:xfrm>
          <a:prstGeom prst="rect">
            <a:avLst/>
          </a:prstGeom>
          <a:noFill/>
          <a:ln/>
        </p:spPr>
        <p:txBody>
          <a:bodyPr wrap="square"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"Vilken livsstil borde Alex valja - och varfor? Ange minst tva perspektiv (t.ex. kort sikt/lang sikt, eller individ/samhalle)."</a:t>
            </a:r>
            <a:endParaRPr lang="en-US" sz="1800" dirty="0"/>
          </a:p>
        </p:txBody>
      </p:sp>
      <p:sp>
        <p:nvSpPr>
          <p:cNvPr id="6" name="Shape 4"/>
          <p:cNvSpPr/>
          <p:nvPr/>
        </p:nvSpPr>
        <p:spPr>
          <a:xfrm>
            <a:off x="548640" y="3657600"/>
            <a:ext cx="265176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548640" y="3657600"/>
            <a:ext cx="54864" cy="914400"/>
          </a:xfrm>
          <a:prstGeom prst="rect">
            <a:avLst/>
          </a:prstGeom>
          <a:solidFill>
            <a:srgbClr val="059669"/>
          </a:solidFill>
          <a:ln/>
        </p:spPr>
      </p:sp>
      <p:sp>
        <p:nvSpPr>
          <p:cNvPr id="8" name="Text 6"/>
          <p:cNvSpPr/>
          <p:nvPr/>
        </p:nvSpPr>
        <p:spPr>
          <a:xfrm>
            <a:off x="685800" y="3703320"/>
            <a:ext cx="457200" cy="365760"/>
          </a:xfrm>
          <a:prstGeom prst="rect">
            <a:avLst/>
          </a:prstGeom>
          <a:noFill/>
          <a:ln/>
        </p:spPr>
        <p:txBody>
          <a:bodyPr wrap="square" rtlCol="0" anchor="ctr"/>
          <a:lstStyle/>
          <a:p>
            <a:pPr indent="0" marL="0">
              <a:buNone/>
            </a:pPr>
            <a:r>
              <a:rPr lang="en-US" sz="1800" b="1" dirty="0">
                <a:solidFill>
                  <a:srgbClr val="059669"/>
                </a:solidFill>
                <a:latin typeface="Georgia" pitchFamily="34" charset="0"/>
                <a:ea typeface="Georgia" pitchFamily="34" charset="-122"/>
                <a:cs typeface="Georgia" pitchFamily="34" charset="-120"/>
              </a:rPr>
              <a:t>E</a:t>
            </a:r>
            <a:endParaRPr lang="en-US" sz="1800" dirty="0"/>
          </a:p>
        </p:txBody>
      </p:sp>
      <p:sp>
        <p:nvSpPr>
          <p:cNvPr id="9" name="Text 7"/>
          <p:cNvSpPr/>
          <p:nvPr/>
        </p:nvSpPr>
        <p:spPr>
          <a:xfrm>
            <a:off x="685800" y="4023360"/>
            <a:ext cx="2377440" cy="45720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Beskriv for- och nackdelar med minst en livsstil</a:t>
            </a:r>
            <a:endParaRPr lang="en-US" sz="1100" dirty="0"/>
          </a:p>
        </p:txBody>
      </p:sp>
      <p:sp>
        <p:nvSpPr>
          <p:cNvPr id="10" name="Shape 8"/>
          <p:cNvSpPr/>
          <p:nvPr/>
        </p:nvSpPr>
        <p:spPr>
          <a:xfrm>
            <a:off x="3383280" y="3657600"/>
            <a:ext cx="265176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383280" y="3657600"/>
            <a:ext cx="54864" cy="914400"/>
          </a:xfrm>
          <a:prstGeom prst="rect">
            <a:avLst/>
          </a:prstGeom>
          <a:solidFill>
            <a:srgbClr val="D97706"/>
          </a:solidFill>
          <a:ln/>
        </p:spPr>
      </p:sp>
      <p:sp>
        <p:nvSpPr>
          <p:cNvPr id="12" name="Text 10"/>
          <p:cNvSpPr/>
          <p:nvPr/>
        </p:nvSpPr>
        <p:spPr>
          <a:xfrm>
            <a:off x="3520440" y="3703320"/>
            <a:ext cx="457200" cy="365760"/>
          </a:xfrm>
          <a:prstGeom prst="rect">
            <a:avLst/>
          </a:prstGeom>
          <a:noFill/>
          <a:ln/>
        </p:spPr>
        <p:txBody>
          <a:bodyPr wrap="square" rtlCol="0" anchor="ctr"/>
          <a:lstStyle/>
          <a:p>
            <a:pPr indent="0" marL="0">
              <a:buNone/>
            </a:pPr>
            <a:r>
              <a:rPr lang="en-US" sz="1800" b="1" dirty="0">
                <a:solidFill>
                  <a:srgbClr val="D97706"/>
                </a:solidFill>
                <a:latin typeface="Georgia" pitchFamily="34" charset="0"/>
                <a:ea typeface="Georgia" pitchFamily="34" charset="-122"/>
                <a:cs typeface="Georgia" pitchFamily="34" charset="-120"/>
              </a:rPr>
              <a:t>C</a:t>
            </a:r>
            <a:endParaRPr lang="en-US" sz="1800" dirty="0"/>
          </a:p>
        </p:txBody>
      </p:sp>
      <p:sp>
        <p:nvSpPr>
          <p:cNvPr id="13" name="Text 11"/>
          <p:cNvSpPr/>
          <p:nvPr/>
        </p:nvSpPr>
        <p:spPr>
          <a:xfrm>
            <a:off x="3520440" y="4023360"/>
            <a:ext cx="2377440" cy="45720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Jamfor tva livsstilar och resonera om konsekvenser</a:t>
            </a:r>
            <a:endParaRPr lang="en-US" sz="1100" dirty="0"/>
          </a:p>
        </p:txBody>
      </p:sp>
      <p:sp>
        <p:nvSpPr>
          <p:cNvPr id="14" name="Shape 12"/>
          <p:cNvSpPr/>
          <p:nvPr/>
        </p:nvSpPr>
        <p:spPr>
          <a:xfrm>
            <a:off x="6217920" y="3657600"/>
            <a:ext cx="265176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217920" y="3657600"/>
            <a:ext cx="54864" cy="914400"/>
          </a:xfrm>
          <a:prstGeom prst="rect">
            <a:avLst/>
          </a:prstGeom>
          <a:solidFill>
            <a:srgbClr val="DC2626"/>
          </a:solidFill>
          <a:ln/>
        </p:spPr>
      </p:sp>
      <p:sp>
        <p:nvSpPr>
          <p:cNvPr id="16" name="Text 14"/>
          <p:cNvSpPr/>
          <p:nvPr/>
        </p:nvSpPr>
        <p:spPr>
          <a:xfrm>
            <a:off x="6355080" y="3703320"/>
            <a:ext cx="457200" cy="365760"/>
          </a:xfrm>
          <a:prstGeom prst="rect">
            <a:avLst/>
          </a:prstGeom>
          <a:noFill/>
          <a:ln/>
        </p:spPr>
        <p:txBody>
          <a:bodyPr wrap="square" rtlCol="0" anchor="ctr"/>
          <a:lstStyle/>
          <a:p>
            <a:pPr indent="0" marL="0">
              <a:buNone/>
            </a:pPr>
            <a:r>
              <a:rPr lang="en-US" sz="1800" b="1" dirty="0">
                <a:solidFill>
                  <a:srgbClr val="DC2626"/>
                </a:solidFill>
                <a:latin typeface="Georgia" pitchFamily="34" charset="0"/>
                <a:ea typeface="Georgia" pitchFamily="34" charset="-122"/>
                <a:cs typeface="Georgia" pitchFamily="34" charset="-120"/>
              </a:rPr>
              <a:t>A</a:t>
            </a:r>
            <a:endParaRPr lang="en-US" sz="1800" dirty="0"/>
          </a:p>
        </p:txBody>
      </p:sp>
      <p:sp>
        <p:nvSpPr>
          <p:cNvPr id="17" name="Text 15"/>
          <p:cNvSpPr/>
          <p:nvPr/>
        </p:nvSpPr>
        <p:spPr>
          <a:xfrm>
            <a:off x="6355080" y="4023360"/>
            <a:ext cx="2377440" cy="45720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Koppla privatekonomiska val till samhallsekonomin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1600" spc="200" kern="0" dirty="0">
                <a:solidFill>
                  <a:srgbClr val="8BA8C0"/>
                </a:solidFill>
                <a:latin typeface="Calibri" pitchFamily="34" charset="0"/>
                <a:ea typeface="Calibri" pitchFamily="34" charset="-122"/>
                <a:cs typeface="Calibri" pitchFamily="34" charset="-120"/>
              </a:rPr>
              <a:t>EPA: Vem bar ansvaret?</a:t>
            </a:r>
            <a:endParaRPr lang="en-US" sz="1600" dirty="0"/>
          </a:p>
        </p:txBody>
      </p:sp>
      <p:sp>
        <p:nvSpPr>
          <p:cNvPr id="3" name="Text 1"/>
          <p:cNvSpPr/>
          <p:nvPr/>
        </p:nvSpPr>
        <p:spPr>
          <a:xfrm>
            <a:off x="731520" y="914400"/>
            <a:ext cx="7680960" cy="13716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"Ar det Alex eget fel om hen hamnar i ekonomiska problem - eller handlar det om vilken lon arbetsmarknaden erbjuder unga?"</a:t>
            </a:r>
            <a:endParaRPr lang="en-US" sz="2200" dirty="0"/>
          </a:p>
        </p:txBody>
      </p:sp>
      <p:sp>
        <p:nvSpPr>
          <p:cNvPr id="4" name="Shape 2"/>
          <p:cNvSpPr/>
          <p:nvPr/>
        </p:nvSpPr>
        <p:spPr>
          <a:xfrm>
            <a:off x="457200" y="2743200"/>
            <a:ext cx="3840480" cy="1645920"/>
          </a:xfrm>
          <a:prstGeom prst="rect">
            <a:avLst/>
          </a:prstGeom>
          <a:solidFill>
            <a:srgbClr val="0A4B6E"/>
          </a:solidFill>
          <a:ln/>
        </p:spPr>
      </p:sp>
      <p:sp>
        <p:nvSpPr>
          <p:cNvPr id="5" name="Text 3"/>
          <p:cNvSpPr/>
          <p:nvPr/>
        </p:nvSpPr>
        <p:spPr>
          <a:xfrm>
            <a:off x="640080" y="2834640"/>
            <a:ext cx="3474720" cy="365760"/>
          </a:xfrm>
          <a:prstGeom prst="rect">
            <a:avLst/>
          </a:prstGeom>
          <a:noFill/>
          <a:ln/>
        </p:spPr>
        <p:txBody>
          <a:bodyPr wrap="square"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Individens ansvar</a:t>
            </a:r>
            <a:endParaRPr lang="en-US" sz="1600" dirty="0"/>
          </a:p>
        </p:txBody>
      </p:sp>
      <p:sp>
        <p:nvSpPr>
          <p:cNvPr id="6" name="Text 4"/>
          <p:cNvSpPr/>
          <p:nvPr/>
        </p:nvSpPr>
        <p:spPr>
          <a:xfrm>
            <a:off x="640080" y="3200400"/>
            <a:ext cx="3474720" cy="1097280"/>
          </a:xfrm>
          <a:prstGeom prst="rect">
            <a:avLst/>
          </a:prstGeom>
          <a:noFill/>
          <a:ln/>
        </p:spPr>
        <p:txBody>
          <a:bodyPr wrap="square" rtlCol="0" anchor="ctr"/>
          <a:lstStyle/>
          <a:p>
            <a:pPr marL="342900" indent="-342900">
              <a:buSzPct val="100000"/>
              <a:buChar char="•"/>
            </a:pPr>
            <a:r>
              <a:rPr lang="en-US" sz="1300" dirty="0">
                <a:solidFill>
                  <a:srgbClr val="B0D4E8"/>
                </a:solidFill>
                <a:latin typeface="Calibri" pitchFamily="34" charset="0"/>
                <a:ea typeface="Calibri" pitchFamily="34" charset="-122"/>
                <a:cs typeface="Calibri" pitchFamily="34" charset="-120"/>
              </a:rPr>
              <a:t>Man valjer sin livsstil</a:t>
            </a:r>
            <a:endParaRPr lang="en-US" sz="1300" dirty="0"/>
          </a:p>
          <a:p>
            <a:pPr marL="342900" indent="-342900">
              <a:buSzPct val="100000"/>
              <a:buChar char="•"/>
            </a:pPr>
            <a:r>
              <a:rPr lang="en-US" sz="1300" dirty="0">
                <a:solidFill>
                  <a:srgbClr val="B0D4E8"/>
                </a:solidFill>
                <a:latin typeface="Calibri" pitchFamily="34" charset="0"/>
                <a:ea typeface="Calibri" pitchFamily="34" charset="-122"/>
                <a:cs typeface="Calibri" pitchFamily="34" charset="-120"/>
              </a:rPr>
              <a:t>Sparande ar ett val</a:t>
            </a:r>
            <a:endParaRPr lang="en-US" sz="1300" dirty="0"/>
          </a:p>
          <a:p>
            <a:pPr marL="342900" indent="-342900">
              <a:buSzPct val="100000"/>
              <a:buChar char="•"/>
            </a:pPr>
            <a:r>
              <a:rPr lang="en-US" sz="1300" dirty="0">
                <a:solidFill>
                  <a:srgbClr val="B0D4E8"/>
                </a:solidFill>
                <a:latin typeface="Calibri" pitchFamily="34" charset="0"/>
                <a:ea typeface="Calibri" pitchFamily="34" charset="-122"/>
                <a:cs typeface="Calibri" pitchFamily="34" charset="-120"/>
              </a:rPr>
              <a:t>Kunskap om ekonomi hjalper</a:t>
            </a:r>
            <a:endParaRPr lang="en-US" sz="1300" dirty="0"/>
          </a:p>
        </p:txBody>
      </p:sp>
      <p:sp>
        <p:nvSpPr>
          <p:cNvPr id="7" name="Shape 5"/>
          <p:cNvSpPr/>
          <p:nvPr/>
        </p:nvSpPr>
        <p:spPr>
          <a:xfrm>
            <a:off x="4846320" y="2743200"/>
            <a:ext cx="3840480" cy="1645920"/>
          </a:xfrm>
          <a:prstGeom prst="rect">
            <a:avLst/>
          </a:prstGeom>
          <a:solidFill>
            <a:srgbClr val="0A4B6E"/>
          </a:solidFill>
          <a:ln/>
        </p:spPr>
      </p:sp>
      <p:sp>
        <p:nvSpPr>
          <p:cNvPr id="8" name="Text 6"/>
          <p:cNvSpPr/>
          <p:nvPr/>
        </p:nvSpPr>
        <p:spPr>
          <a:xfrm>
            <a:off x="5029200" y="2834640"/>
            <a:ext cx="3474720" cy="365760"/>
          </a:xfrm>
          <a:prstGeom prst="rect">
            <a:avLst/>
          </a:prstGeom>
          <a:noFill/>
          <a:ln/>
        </p:spPr>
        <p:txBody>
          <a:bodyPr wrap="square"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Samhallets ansvar</a:t>
            </a:r>
            <a:endParaRPr lang="en-US" sz="1600" dirty="0"/>
          </a:p>
        </p:txBody>
      </p:sp>
      <p:sp>
        <p:nvSpPr>
          <p:cNvPr id="9" name="Text 7"/>
          <p:cNvSpPr/>
          <p:nvPr/>
        </p:nvSpPr>
        <p:spPr>
          <a:xfrm>
            <a:off x="5029200" y="3200400"/>
            <a:ext cx="3474720" cy="1097280"/>
          </a:xfrm>
          <a:prstGeom prst="rect">
            <a:avLst/>
          </a:prstGeom>
          <a:noFill/>
          <a:ln/>
        </p:spPr>
        <p:txBody>
          <a:bodyPr wrap="square" rtlCol="0" anchor="ctr"/>
          <a:lstStyle/>
          <a:p>
            <a:pPr marL="342900" indent="-342900">
              <a:buSzPct val="100000"/>
              <a:buChar char="•"/>
            </a:pPr>
            <a:r>
              <a:rPr lang="en-US" sz="1300" dirty="0">
                <a:solidFill>
                  <a:srgbClr val="B0D4E8"/>
                </a:solidFill>
                <a:latin typeface="Calibri" pitchFamily="34" charset="0"/>
                <a:ea typeface="Calibri" pitchFamily="34" charset="-122"/>
                <a:cs typeface="Calibri" pitchFamily="34" charset="-120"/>
              </a:rPr>
              <a:t>Loner satts av marknaden</a:t>
            </a:r>
            <a:endParaRPr lang="en-US" sz="1300" dirty="0"/>
          </a:p>
          <a:p>
            <a:pPr marL="342900" indent="-342900">
              <a:buSzPct val="100000"/>
              <a:buChar char="•"/>
            </a:pPr>
            <a:r>
              <a:rPr lang="en-US" sz="1300" dirty="0">
                <a:solidFill>
                  <a:srgbClr val="B0D4E8"/>
                </a:solidFill>
                <a:latin typeface="Calibri" pitchFamily="34" charset="0"/>
                <a:ea typeface="Calibri" pitchFamily="34" charset="-122"/>
                <a:cs typeface="Calibri" pitchFamily="34" charset="-120"/>
              </a:rPr>
              <a:t>Hyresmarknaden ar svartillganglig</a:t>
            </a:r>
            <a:endParaRPr lang="en-US" sz="1300" dirty="0"/>
          </a:p>
          <a:p>
            <a:pPr marL="342900" indent="-342900">
              <a:buSzPct val="100000"/>
              <a:buChar char="•"/>
            </a:pPr>
            <a:r>
              <a:rPr lang="en-US" sz="1300" dirty="0">
                <a:solidFill>
                  <a:srgbClr val="B0D4E8"/>
                </a:solidFill>
                <a:latin typeface="Calibri" pitchFamily="34" charset="0"/>
                <a:ea typeface="Calibri" pitchFamily="34" charset="-122"/>
                <a:cs typeface="Calibri" pitchFamily="34" charset="-120"/>
              </a:rPr>
              <a:t>Socialforsakringar finns av en anledning</a:t>
            </a:r>
            <a:endParaRPr lang="en-US" sz="1300" dirty="0"/>
          </a:p>
        </p:txBody>
      </p:sp>
      <p:sp>
        <p:nvSpPr>
          <p:cNvPr id="10" name="Text 8"/>
          <p:cNvSpPr/>
          <p:nvPr/>
        </p:nvSpPr>
        <p:spPr>
          <a:xfrm>
            <a:off x="548640" y="4663440"/>
            <a:ext cx="8046720" cy="274320"/>
          </a:xfrm>
          <a:prstGeom prst="rect">
            <a:avLst/>
          </a:prstGeom>
          <a:noFill/>
          <a:ln/>
        </p:spPr>
        <p:txBody>
          <a:bodyPr wrap="square" rtlCol="0" anchor="ctr"/>
          <a:lstStyle/>
          <a:p>
            <a:pPr algn="ctr" indent="0" marL="0">
              <a:buNone/>
            </a:pPr>
            <a:r>
              <a:rPr lang="en-US" sz="1200" i="1" dirty="0">
                <a:solidFill>
                  <a:srgbClr val="8BA8C0"/>
                </a:solidFill>
                <a:latin typeface="Calibri" pitchFamily="34" charset="0"/>
                <a:ea typeface="Calibri" pitchFamily="34" charset="-122"/>
                <a:cs typeface="Calibri" pitchFamily="34" charset="-120"/>
              </a:rPr>
              <a:t>Enskilt 2 min → Par 2 min → Helklass 3 min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65A82"/>
          </a:solidFill>
          <a:ln/>
        </p:spPr>
      </p:sp>
      <p:sp>
        <p:nvSpPr>
          <p:cNvPr id="3" name="Text 1"/>
          <p:cNvSpPr/>
          <p:nvPr/>
        </p:nvSpPr>
        <p:spPr>
          <a:xfrm>
            <a:off x="548640" y="640080"/>
            <a:ext cx="8046720" cy="548640"/>
          </a:xfrm>
          <a:prstGeom prst="rect">
            <a:avLst/>
          </a:prstGeom>
          <a:noFill/>
          <a:ln/>
        </p:spPr>
        <p:txBody>
          <a:bodyPr wrap="square" rtlCol="0" anchor="ctr"/>
          <a:lstStyle/>
          <a:p>
            <a:pPr indent="0" marL="0">
              <a:buNone/>
            </a:pPr>
            <a:r>
              <a:rPr lang="en-US" sz="3200" b="1" dirty="0">
                <a:solidFill>
                  <a:srgbClr val="065A82"/>
                </a:solidFill>
                <a:latin typeface="Georgia" pitchFamily="34" charset="0"/>
                <a:ea typeface="Georgia" pitchFamily="34" charset="-122"/>
                <a:cs typeface="Georgia" pitchFamily="34" charset="-120"/>
              </a:rPr>
              <a:t>Exit ticket</a:t>
            </a:r>
            <a:endParaRPr lang="en-US" sz="3200" dirty="0"/>
          </a:p>
        </p:txBody>
      </p:sp>
      <p:sp>
        <p:nvSpPr>
          <p:cNvPr id="4" name="Shape 2"/>
          <p:cNvSpPr/>
          <p:nvPr/>
        </p:nvSpPr>
        <p:spPr>
          <a:xfrm>
            <a:off x="914400" y="1463040"/>
            <a:ext cx="7315200" cy="2286000"/>
          </a:xfrm>
          <a:prstGeom prst="rect">
            <a:avLst/>
          </a:prstGeom>
          <a:solidFill>
            <a:srgbClr val="F0F5F8"/>
          </a:solidFill>
          <a:ln/>
          <a:effectLst>
            <a:outerShdw sx="100000" sy="100000" kx="0" ky="0" algn="bl" rotWithShape="0" blurRad="76200" dist="25400" dir="8100000">
              <a:srgbClr val="000000">
                <a:alpha val="12000"/>
              </a:srgbClr>
            </a:outerShdw>
          </a:effectLst>
        </p:spPr>
      </p:sp>
      <p:sp>
        <p:nvSpPr>
          <p:cNvPr id="5" name="Shape 3"/>
          <p:cNvSpPr/>
          <p:nvPr/>
        </p:nvSpPr>
        <p:spPr>
          <a:xfrm>
            <a:off x="914400" y="1463040"/>
            <a:ext cx="7315200" cy="54864"/>
          </a:xfrm>
          <a:prstGeom prst="rect">
            <a:avLst/>
          </a:prstGeom>
          <a:solidFill>
            <a:srgbClr val="0891B2"/>
          </a:solidFill>
          <a:ln/>
        </p:spPr>
      </p:sp>
      <p:sp>
        <p:nvSpPr>
          <p:cNvPr id="6" name="Text 4"/>
          <p:cNvSpPr/>
          <p:nvPr/>
        </p:nvSpPr>
        <p:spPr>
          <a:xfrm>
            <a:off x="1188720" y="1645920"/>
            <a:ext cx="6766560" cy="548640"/>
          </a:xfrm>
          <a:prstGeom prst="rect">
            <a:avLst/>
          </a:prstGeom>
          <a:noFill/>
          <a:ln/>
        </p:spPr>
        <p:txBody>
          <a:bodyPr wrap="square" rtlCol="0" anchor="ctr"/>
          <a:lstStyle/>
          <a:p>
            <a:pPr algn="ctr" indent="0" marL="0">
              <a:buNone/>
            </a:pPr>
            <a:r>
              <a:rPr lang="en-US" sz="1800" b="1" dirty="0">
                <a:solidFill>
                  <a:srgbClr val="1E293B"/>
                </a:solidFill>
                <a:latin typeface="Georgia" pitchFamily="34" charset="0"/>
                <a:ea typeface="Georgia" pitchFamily="34" charset="-122"/>
                <a:cs typeface="Georgia" pitchFamily="34" charset="-120"/>
              </a:rPr>
              <a:t>"Alex overraskande bilreparation kostar 8 000 kr."</a:t>
            </a:r>
            <a:endParaRPr lang="en-US" sz="1800" dirty="0"/>
          </a:p>
        </p:txBody>
      </p:sp>
      <p:sp>
        <p:nvSpPr>
          <p:cNvPr id="7" name="Text 5"/>
          <p:cNvSpPr/>
          <p:nvPr/>
        </p:nvSpPr>
        <p:spPr>
          <a:xfrm>
            <a:off x="1188720" y="2286000"/>
            <a:ext cx="6766560" cy="731520"/>
          </a:xfrm>
          <a:prstGeom prst="rect">
            <a:avLst/>
          </a:prstGeom>
          <a:noFill/>
          <a:ln/>
        </p:spPr>
        <p:txBody>
          <a:bodyPr wrap="square"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Beskriv hur respektive livsstil klarar det - och vad det sager om privatekonomiska val.</a:t>
            </a:r>
            <a:endParaRPr lang="en-US" sz="1600" dirty="0"/>
          </a:p>
        </p:txBody>
      </p:sp>
      <p:sp>
        <p:nvSpPr>
          <p:cNvPr id="8" name="Text 6"/>
          <p:cNvSpPr/>
          <p:nvPr/>
        </p:nvSpPr>
        <p:spPr>
          <a:xfrm>
            <a:off x="1188720" y="3108960"/>
            <a:ext cx="6766560" cy="36576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Skriv ditt svar pa lappen.</a:t>
            </a:r>
            <a:endParaRPr lang="en-US" sz="1400" dirty="0"/>
          </a:p>
        </p:txBody>
      </p:sp>
      <p:sp>
        <p:nvSpPr>
          <p:cNvPr id="9" name="Shape 7"/>
          <p:cNvSpPr/>
          <p:nvPr/>
        </p:nvSpPr>
        <p:spPr>
          <a:xfrm>
            <a:off x="1371600" y="4114800"/>
            <a:ext cx="6400800" cy="640080"/>
          </a:xfrm>
          <a:prstGeom prst="rect">
            <a:avLst/>
          </a:prstGeom>
          <a:solidFill>
            <a:srgbClr val="21295C"/>
          </a:solidFill>
          <a:ln/>
        </p:spPr>
      </p:sp>
      <p:sp>
        <p:nvSpPr>
          <p:cNvPr id="10" name="Text 8"/>
          <p:cNvSpPr/>
          <p:nvPr/>
        </p:nvSpPr>
        <p:spPr>
          <a:xfrm>
            <a:off x="1554480" y="4114800"/>
            <a:ext cx="6035040" cy="640080"/>
          </a:xfrm>
          <a:prstGeom prst="rect">
            <a:avLst/>
          </a:prstGeom>
          <a:noFill/>
          <a:ln/>
        </p:spPr>
        <p:txBody>
          <a:bodyPr wrap="square" rtlCol="0" anchor="ctr"/>
          <a:lstStyle/>
          <a:p>
            <a:pPr algn="ctr" indent="0" marL="0">
              <a:buNone/>
            </a:pPr>
            <a:r>
              <a:rPr lang="en-US" sz="1400" i="1" dirty="0">
                <a:solidFill>
                  <a:srgbClr val="B0D4E8"/>
                </a:solidFill>
                <a:latin typeface="Calibri" pitchFamily="34" charset="0"/>
                <a:ea typeface="Calibri" pitchFamily="34" charset="-122"/>
                <a:cs typeface="Calibri" pitchFamily="34" charset="-120"/>
              </a:rPr>
              <a:t>Nasta gang: 'Vad hander om...?' - Risker, val och konsekvenser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Lektion 3: Racker pengarna? - Privatekonomi och budget</dc:title>
  <dc:subject>PptxGenJS Presentation</dc:subject>
  <dc:creator>Cornelius Agent</dc:creator>
  <cp:lastModifiedBy>Cornelius Agent</cp:lastModifiedBy>
  <cp:revision>1</cp:revision>
  <dcterms:created xsi:type="dcterms:W3CDTF">2026-03-10T19:10:28Z</dcterms:created>
  <dcterms:modified xsi:type="dcterms:W3CDTF">2026-03-10T19:10:28Z</dcterms:modified>
</cp:coreProperties>
</file>