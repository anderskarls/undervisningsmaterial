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1 min
VALKOMNA eleverna. Presentera momentets overordnade fraga: Varfor blev demokratier diktaturer under mellankrigstiden? Denna fraga ar den roda traden genom hela momentet.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2 min
Las pastaendena hogt och lat dem sjunka in. Fraga eleverna: Vad tror ni hande? Lat nagra elever svara kort. Syftet ar att vacka nyfikenhet och skapa en gemensam undran.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2 min
Ga igenom larandemalen. Forklara att momentet ar upplagt over 4 lektioner och att de kommer att arbeta med bade faktakunskap, diskussioner och kallanalys.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Forklara Versaillesfredens tre huvudkonsekvenser. Betona att manga tyskar upplevde freden som orattvis - detta ar avgirande for att forsta vad som hander sedan. Fraga: Hur skulle ni kanna om ert land behandlades sa har?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Forklara de tre utmaningarna en i taget. Anvand hyperinflationen som konkret exempel - visa hur priserna forandrades fran dag till dag. Koppla till elevernas varld: tanke er att era sparpengar blev vardelosa.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 min (3 min pardiskussion + 2 min helklass)
Lat eleverna diskutera i par. Paminn om att de ska anvanda det de lart sig om Versaillesfreden och Weimarrepubliken. Samla nagra svar i helklass efterat.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Forklara sambandet mellan ekonomisk kris och politisk radikalisering. Nyckelpoang: nar manniskor ar desperata blir de mottagliga for extrema losningar. Anvand tidslinjen for att visa hur snabbt det gick.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Presentera fascismens tre kannetecken. Borja med att fraga eleverna vad de redan vet om fascism. Anvand Mussolinis Italien som huvudexempel. Betona att fascism ar en ideologi som foraktar demokrati.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Forklara hur nazismen bygger pa fascismen men lagger till rasideologin. Betona antisemitismen som central del. Viktigt att lyfta att Hitler anvande demokratin for att avskaffa den - detta ar en viktig lxa for vara dagar.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 min (3 min pardiskussion + 2 min helklass)
Detta ar en central historievetenskaplig fraga: aktor vs struktur. Lat eleverna argumentera for bada sidor. I helklassdiskussionen, lyft att svaret ofta ar en kombination.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Forklara hur nazisterna anvande propaganda systematiskt. Visa konkreta exempel om mojligt (affischer, filmklipp). Betona att propaganda handlar om att kontrollera vad manniskor tanker genom att kontrollera vad de ser och hor.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5-7 min
Introducera de fyra kallkritiska fragorna. Forklara att dessa fragor hjalper oss att avsloja propaganda. Ge ett konkret exempel: visa en propagandaaffisch och ga igenom fragorna tillsammans.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5 min (3 min pardiskussion + 2 min helklass)
Denna diskussion kopplar historien till nutiden. Lat eleverna jamfora 1930-talets propaganda med dagens informationspaverkan. Lyft exempel som deepfakes, trollfabriker, algoritmstyrda floden.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TIDSATGANG: 3-5 min
Sammanfatta momentets viktigaste lardomar. Ga igenom punkterna och koppla tillbaka till den overgripande fragan. Avsluta med den provocerande fragan 'Kan det handa igen?' - lat den hanga i luften som en reflektion.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457200" y="1097280"/>
            <a:ext cx="8229600" cy="29260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Mellankrigstiden</a:t>
            </a:r>
            <a:endParaRPr lang="en-US" sz="4400" dirty="0"/>
          </a:p>
          <a:p>
            <a:pPr algn="ctr" indent="0" marL="0">
              <a:buNone/>
            </a:pPr>
            <a:endParaRPr lang="en-US" sz="4400" dirty="0"/>
          </a:p>
          <a:p>
            <a:pPr algn="ctr" indent="0" marL="0">
              <a:buNone/>
            </a:pPr>
            <a:r>
              <a:rPr lang="en-US" sz="2200" i="1" dirty="0">
                <a:solidFill>
                  <a:srgbClr val="D4B5C0"/>
                </a:solidFill>
                <a:latin typeface="Calibri" pitchFamily="34" charset="0"/>
                <a:ea typeface="Calibri" pitchFamily="34" charset="-122"/>
                <a:cs typeface="Calibri" pitchFamily="34" charset="-120"/>
              </a:rPr>
              <a:t>Varfor blev demokratier diktaturer?</a:t>
            </a:r>
            <a:endParaRPr lang="en-US" sz="4400" dirty="0"/>
          </a:p>
          <a:p>
            <a:pPr algn="ctr" indent="0" marL="0">
              <a:buNone/>
            </a:pPr>
            <a:endParaRPr lang="en-US" sz="4400" dirty="0"/>
          </a:p>
          <a:p>
            <a:pPr algn="ctr" indent="0" marL="0">
              <a:buNone/>
            </a:pPr>
            <a:r>
              <a:rPr lang="en-US" sz="1600" dirty="0">
                <a:solidFill>
                  <a:srgbClr val="D4B5C0"/>
                </a:solidFill>
                <a:latin typeface="Calibri" pitchFamily="34" charset="0"/>
                <a:ea typeface="Calibri" pitchFamily="34" charset="-122"/>
                <a:cs typeface="Calibri" pitchFamily="34" charset="-120"/>
              </a:rPr>
              <a:t>Historia 1b</a:t>
            </a:r>
            <a:endParaRPr lang="en-US" sz="4400" dirty="0"/>
          </a:p>
        </p:txBody>
      </p:sp>
      <p:sp>
        <p:nvSpPr>
          <p:cNvPr id="3" name="Shape 1"/>
          <p:cNvSpPr/>
          <p:nvPr/>
        </p:nvSpPr>
        <p:spPr>
          <a:xfrm>
            <a:off x="2743200" y="4114800"/>
            <a:ext cx="3657600" cy="36576"/>
          </a:xfrm>
          <a:prstGeom prst="rect">
            <a:avLst/>
          </a:prstGeom>
          <a:solidFill>
            <a:srgbClr val="A26769"/>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914400" y="914400"/>
            <a:ext cx="7315200" cy="3200400"/>
          </a:xfrm>
          <a:prstGeom prst="rect">
            <a:avLst/>
          </a:prstGeom>
          <a:noFill/>
          <a:ln/>
        </p:spPr>
        <p:txBody>
          <a:bodyPr wrap="square"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1920: nastan alla europeiska lander var demokratier.</a:t>
            </a:r>
            <a:endParaRPr lang="en-US" sz="2400" dirty="0"/>
          </a:p>
          <a:p>
            <a:pPr algn="ctr" indent="0" marL="0">
              <a:buNone/>
            </a:pPr>
            <a:endParaRPr lang="en-US" sz="2400" dirty="0"/>
          </a:p>
          <a:p>
            <a:pPr algn="ctr" indent="0" marL="0">
              <a:buNone/>
            </a:pPr>
            <a:r>
              <a:rPr lang="en-US" sz="2400" b="1" dirty="0">
                <a:solidFill>
                  <a:srgbClr val="FFFFFF"/>
                </a:solidFill>
                <a:latin typeface="Calibri" pitchFamily="34" charset="0"/>
                <a:ea typeface="Calibri" pitchFamily="34" charset="-122"/>
                <a:cs typeface="Calibri" pitchFamily="34" charset="-120"/>
              </a:rPr>
              <a:t>1939: de flesta var diktaturer.</a:t>
            </a:r>
            <a:endParaRPr lang="en-US" sz="2400" dirty="0"/>
          </a:p>
          <a:p>
            <a:pPr algn="ctr" indent="0" marL="0">
              <a:buNone/>
            </a:pPr>
            <a:endParaRPr lang="en-US" sz="2400" dirty="0"/>
          </a:p>
          <a:p>
            <a:pPr algn="ctr" indent="0" marL="0">
              <a:buNone/>
            </a:pPr>
            <a:r>
              <a:rPr lang="en-US" sz="2800" b="1" i="1" dirty="0">
                <a:solidFill>
                  <a:srgbClr val="A26769"/>
                </a:solidFill>
                <a:latin typeface="Calibri" pitchFamily="34" charset="0"/>
                <a:ea typeface="Calibri" pitchFamily="34" charset="-122"/>
                <a:cs typeface="Calibri" pitchFamily="34" charset="-120"/>
              </a:rPr>
              <a:t>Hur kunde det handa?</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3200" b="1" dirty="0">
                <a:solidFill>
                  <a:srgbClr val="6D2E46"/>
                </a:solidFill>
                <a:latin typeface="Georgia" pitchFamily="34" charset="0"/>
                <a:ea typeface="Georgia" pitchFamily="34" charset="-122"/>
                <a:cs typeface="Georgia" pitchFamily="34" charset="-120"/>
              </a:rPr>
              <a:t>Larandemal</a:t>
            </a:r>
            <a:endParaRPr lang="en-US" sz="3200" dirty="0"/>
          </a:p>
        </p:txBody>
      </p:sp>
      <p:sp>
        <p:nvSpPr>
          <p:cNvPr id="3" name="Shape 1"/>
          <p:cNvSpPr/>
          <p:nvPr/>
        </p:nvSpPr>
        <p:spPr>
          <a:xfrm>
            <a:off x="548640" y="960120"/>
            <a:ext cx="1828800" cy="36576"/>
          </a:xfrm>
          <a:prstGeom prst="rect">
            <a:avLst/>
          </a:prstGeom>
          <a:solidFill>
            <a:srgbClr val="A26769"/>
          </a:solidFill>
          <a:ln/>
        </p:spPr>
      </p:sp>
      <p:sp>
        <p:nvSpPr>
          <p:cNvPr id="4" name="Text 2"/>
          <p:cNvSpPr/>
          <p:nvPr/>
        </p:nvSpPr>
        <p:spPr>
          <a:xfrm>
            <a:off x="548640" y="1188720"/>
            <a:ext cx="8046720" cy="3200400"/>
          </a:xfrm>
          <a:prstGeom prst="rect">
            <a:avLst/>
          </a:prstGeom>
          <a:noFill/>
          <a:ln/>
        </p:spPr>
        <p:txBody>
          <a:bodyPr wrap="square" rtlCol="0" anchor="t"/>
          <a:lstStyle/>
          <a:p>
            <a:pPr algn="l" marL="342900" indent="-342900">
              <a:buSzPct val="100000"/>
              <a:buChar char="•"/>
            </a:pPr>
            <a:r>
              <a:rPr lang="en-US" sz="1700" dirty="0">
                <a:solidFill>
                  <a:srgbClr val="2D2D2D"/>
                </a:solidFill>
                <a:latin typeface="Calibri" pitchFamily="34" charset="0"/>
                <a:ea typeface="Calibri" pitchFamily="34" charset="-122"/>
                <a:cs typeface="Calibri" pitchFamily="34" charset="-120"/>
              </a:rPr>
              <a:t>Forsta orsakerna till demokratins fall under mellankrigstiden</a:t>
            </a:r>
            <a:pPr algn="l" marL="342900" indent="-342900">
              <a:buSzPct val="100000"/>
              <a:buChar char="•"/>
            </a:pPr>
            <a:r>
              <a:rPr lang="en-US" sz="1700" dirty="0">
                <a:solidFill>
                  <a:srgbClr val="2D2D2D"/>
                </a:solidFill>
                <a:latin typeface="Calibri" pitchFamily="34" charset="0"/>
                <a:ea typeface="Calibri" pitchFamily="34" charset="-122"/>
                <a:cs typeface="Calibri" pitchFamily="34" charset="-120"/>
              </a:rPr>
              <a:t>Kunna forklara vad fascism och nazism innebar</a:t>
            </a:r>
            <a:endParaRPr lang="en-US" sz="1700" dirty="0"/>
          </a:p>
          <a:p>
            <a:pPr algn="l" marL="342900" indent="-342900">
              <a:buSzPct val="100000"/>
              <a:buChar char="•"/>
            </a:pPr>
            <a:r>
              <a:rPr lang="en-US" sz="1700" dirty="0">
                <a:solidFill>
                  <a:srgbClr val="2D2D2D"/>
                </a:solidFill>
                <a:latin typeface="Calibri" pitchFamily="34" charset="0"/>
                <a:ea typeface="Calibri" pitchFamily="34" charset="-122"/>
                <a:cs typeface="Calibri" pitchFamily="34" charset="-120"/>
              </a:rPr>
              <a:t>Analysera hur propaganda anvandes for att paverka manniskor</a:t>
            </a:r>
            <a:endParaRPr lang="en-US" sz="1700" dirty="0"/>
          </a:p>
          <a:p>
            <a:pPr algn="l" marL="342900" indent="-342900">
              <a:buSzPct val="100000"/>
              <a:buChar char="•"/>
            </a:pPr>
            <a:r>
              <a:rPr lang="en-US" sz="1700" dirty="0">
                <a:solidFill>
                  <a:srgbClr val="2D2D2D"/>
                </a:solidFill>
                <a:latin typeface="Calibri" pitchFamily="34" charset="0"/>
                <a:ea typeface="Calibri" pitchFamily="34" charset="-122"/>
                <a:cs typeface="Calibri" pitchFamily="34" charset="-120"/>
              </a:rPr>
              <a:t>Diskutera sambanden mellan ekonomisk kris och politisk extremism</a:t>
            </a:r>
            <a:endParaRPr lang="en-US" sz="1700" dirty="0"/>
          </a:p>
          <a:p>
            <a:pPr algn="l" marL="342900" indent="-342900">
              <a:buSzPct val="100000"/>
              <a:buChar char="•"/>
            </a:pPr>
            <a:r>
              <a:rPr lang="en-US" sz="1700" dirty="0">
                <a:solidFill>
                  <a:srgbClr val="2D2D2D"/>
                </a:solidFill>
                <a:latin typeface="Calibri" pitchFamily="34" charset="0"/>
                <a:ea typeface="Calibri" pitchFamily="34" charset="-122"/>
                <a:cs typeface="Calibri" pitchFamily="34" charset="-120"/>
              </a:rPr>
              <a:t>Ova pa att granska kallor med kallkritiska fragor</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2800" b="1" dirty="0">
                <a:solidFill>
                  <a:srgbClr val="6D2E46"/>
                </a:solidFill>
                <a:latin typeface="Georgia" pitchFamily="34" charset="0"/>
                <a:ea typeface="Georgia" pitchFamily="34" charset="-122"/>
                <a:cs typeface="Georgia" pitchFamily="34" charset="-120"/>
              </a:rPr>
              <a:t>Vilka konsekvenser fick Versaillesfreden?</a:t>
            </a:r>
            <a:endParaRPr lang="en-US" sz="2800" dirty="0"/>
          </a:p>
        </p:txBody>
      </p:sp>
      <p:sp>
        <p:nvSpPr>
          <p:cNvPr id="3" name="Shape 1"/>
          <p:cNvSpPr/>
          <p:nvPr/>
        </p:nvSpPr>
        <p:spPr>
          <a:xfrm>
            <a:off x="548640" y="960120"/>
            <a:ext cx="2286000" cy="36576"/>
          </a:xfrm>
          <a:prstGeom prst="rect">
            <a:avLst/>
          </a:prstGeom>
          <a:solidFill>
            <a:srgbClr val="A26769"/>
          </a:solidFill>
          <a:ln/>
        </p:spPr>
      </p:sp>
      <p:sp>
        <p:nvSpPr>
          <p:cNvPr id="4" name="Text 2"/>
          <p:cNvSpPr/>
          <p:nvPr/>
        </p:nvSpPr>
        <p:spPr>
          <a:xfrm>
            <a:off x="548640" y="1188720"/>
            <a:ext cx="5029200" cy="2743200"/>
          </a:xfrm>
          <a:prstGeom prst="rect">
            <a:avLst/>
          </a:prstGeom>
          <a:noFill/>
          <a:ln/>
        </p:spPr>
        <p:txBody>
          <a:bodyPr wrap="square" rtlCol="0" anchor="t"/>
          <a:lstStyle/>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Krigsskulden - Tyskland fick hela skulden for kriget</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Territoriefrluster - Alsace-Lorraine, kolonier, polska korridoren</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Ekonomiska krav - enorma skadestand som krossade ekonomin</a:t>
            </a:r>
            <a:endParaRPr lang="en-US" sz="1600" dirty="0"/>
          </a:p>
        </p:txBody>
      </p:sp>
      <p:sp>
        <p:nvSpPr>
          <p:cNvPr id="5" name="Shape 3"/>
          <p:cNvSpPr/>
          <p:nvPr/>
        </p:nvSpPr>
        <p:spPr>
          <a:xfrm>
            <a:off x="5943600" y="1188720"/>
            <a:ext cx="2926080" cy="2286000"/>
          </a:xfrm>
          <a:prstGeom prst="roundRect">
            <a:avLst>
              <a:gd name="adj" fmla="val 4000"/>
            </a:avLst>
          </a:prstGeom>
          <a:solidFill>
            <a:srgbClr val="FFFFFF"/>
          </a:solidFill>
          <a:ln/>
          <a:effectLst>
            <a:outerShdw sx="100000" sy="100000" kx="0" ky="0" algn="bl" rotWithShape="0" blurRad="50800" dist="25400" dir="16200000">
              <a:srgbClr val="CCCCCC">
                <a:alpha val="30000"/>
              </a:srgbClr>
            </a:outerShdw>
          </a:effectLst>
        </p:spPr>
      </p:sp>
      <p:sp>
        <p:nvSpPr>
          <p:cNvPr id="6" name="Text 4"/>
          <p:cNvSpPr/>
          <p:nvPr/>
        </p:nvSpPr>
        <p:spPr>
          <a:xfrm>
            <a:off x="6035040" y="1280160"/>
            <a:ext cx="2743200" cy="2103120"/>
          </a:xfrm>
          <a:prstGeom prst="rect">
            <a:avLst/>
          </a:prstGeom>
          <a:noFill/>
          <a:ln/>
        </p:spPr>
        <p:txBody>
          <a:bodyPr wrap="square" rtlCol="0" anchor="ctr"/>
          <a:lstStyle/>
          <a:p>
            <a:pPr algn="ctr" indent="0" marL="0">
              <a:buNone/>
            </a:pPr>
            <a:r>
              <a:rPr lang="en-US" sz="1500" b="1" dirty="0">
                <a:solidFill>
                  <a:srgbClr val="6D2E46"/>
                </a:solidFill>
                <a:latin typeface="Calibri" pitchFamily="34" charset="0"/>
                <a:ea typeface="Calibri" pitchFamily="34" charset="-122"/>
                <a:cs typeface="Calibri" pitchFamily="34" charset="-120"/>
              </a:rPr>
              <a:t>Nyckelfakta</a:t>
            </a:r>
            <a:pPr indent="0" marL="0">
              <a:buNone/>
            </a:pPr>
            <a:endParaRPr lang="en-US" sz="1500" dirty="0"/>
          </a:p>
          <a:p>
            <a:pPr algn="ctr" indent="0" marL="0">
              <a:buNone/>
            </a:pPr>
            <a:r>
              <a:rPr lang="en-US" sz="1300" dirty="0">
                <a:solidFill>
                  <a:srgbClr val="2D2D2D"/>
                </a:solidFill>
                <a:latin typeface="Calibri" pitchFamily="34" charset="0"/>
                <a:ea typeface="Calibri" pitchFamily="34" charset="-122"/>
                <a:cs typeface="Calibri" pitchFamily="34" charset="-120"/>
              </a:rPr>
              <a:t>132 miljarder guldmark i skadestand</a:t>
            </a:r>
            <a:pPr indent="0" marL="0">
              <a:buNone/>
            </a:pPr>
            <a:endParaRPr lang="en-US" sz="1500" dirty="0"/>
          </a:p>
          <a:p>
            <a:pPr algn="ctr" indent="0" marL="0">
              <a:buNone/>
            </a:pPr>
            <a:r>
              <a:rPr lang="en-US" sz="1300" dirty="0">
                <a:solidFill>
                  <a:srgbClr val="2D2D2D"/>
                </a:solidFill>
                <a:latin typeface="Calibri" pitchFamily="34" charset="0"/>
                <a:ea typeface="Calibri" pitchFamily="34" charset="-122"/>
                <a:cs typeface="Calibri" pitchFamily="34" charset="-120"/>
              </a:rPr>
              <a:t>Artikel 231 - krigsansvarsparagrafen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2800" b="1" dirty="0">
                <a:solidFill>
                  <a:srgbClr val="6D2E46"/>
                </a:solidFill>
                <a:latin typeface="Georgia" pitchFamily="34" charset="0"/>
                <a:ea typeface="Georgia" pitchFamily="34" charset="-122"/>
                <a:cs typeface="Georgia" pitchFamily="34" charset="-120"/>
              </a:rPr>
              <a:t>Varfor hade Weimarrepubliken sa svart?</a:t>
            </a:r>
            <a:endParaRPr lang="en-US" sz="2800" dirty="0"/>
          </a:p>
        </p:txBody>
      </p:sp>
      <p:sp>
        <p:nvSpPr>
          <p:cNvPr id="3" name="Shape 1"/>
          <p:cNvSpPr/>
          <p:nvPr/>
        </p:nvSpPr>
        <p:spPr>
          <a:xfrm>
            <a:off x="548640" y="960120"/>
            <a:ext cx="2286000" cy="36576"/>
          </a:xfrm>
          <a:prstGeom prst="rect">
            <a:avLst/>
          </a:prstGeom>
          <a:solidFill>
            <a:srgbClr val="A26769"/>
          </a:solidFill>
          <a:ln/>
        </p:spPr>
      </p:sp>
      <p:sp>
        <p:nvSpPr>
          <p:cNvPr id="4" name="Shape 2"/>
          <p:cNvSpPr/>
          <p:nvPr/>
        </p:nvSpPr>
        <p:spPr>
          <a:xfrm>
            <a:off x="36576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5" name="Text 3"/>
          <p:cNvSpPr/>
          <p:nvPr/>
        </p:nvSpPr>
        <p:spPr>
          <a:xfrm>
            <a:off x="502920" y="1371600"/>
            <a:ext cx="2286000" cy="457200"/>
          </a:xfrm>
          <a:prstGeom prst="rect">
            <a:avLst/>
          </a:prstGeom>
          <a:noFill/>
          <a:ln/>
        </p:spPr>
        <p:txBody>
          <a:bodyPr wrap="square" rtlCol="0" anchor="ctr"/>
          <a:lstStyle/>
          <a:p>
            <a:pPr indent="0" marL="0">
              <a:buNone/>
            </a:pPr>
            <a:r>
              <a:rPr lang="en-US" sz="1800" b="1" dirty="0">
                <a:solidFill>
                  <a:srgbClr val="6D2E46"/>
                </a:solidFill>
                <a:latin typeface="Georgia" pitchFamily="34" charset="0"/>
                <a:ea typeface="Georgia" pitchFamily="34" charset="-122"/>
                <a:cs typeface="Georgia" pitchFamily="34" charset="-120"/>
              </a:rPr>
              <a:t>Hyperinflation</a:t>
            </a:r>
            <a:endParaRPr lang="en-US" sz="1800" dirty="0"/>
          </a:p>
        </p:txBody>
      </p:sp>
      <p:sp>
        <p:nvSpPr>
          <p:cNvPr id="6" name="Shape 4"/>
          <p:cNvSpPr/>
          <p:nvPr/>
        </p:nvSpPr>
        <p:spPr>
          <a:xfrm>
            <a:off x="502920" y="1828800"/>
            <a:ext cx="1371600" cy="27432"/>
          </a:xfrm>
          <a:prstGeom prst="rect">
            <a:avLst/>
          </a:prstGeom>
          <a:solidFill>
            <a:srgbClr val="A26769"/>
          </a:solidFill>
          <a:ln/>
        </p:spPr>
      </p:sp>
      <p:sp>
        <p:nvSpPr>
          <p:cNvPr id="7" name="Text 5"/>
          <p:cNvSpPr/>
          <p:nvPr/>
        </p:nvSpPr>
        <p:spPr>
          <a:xfrm>
            <a:off x="502920" y="2011680"/>
            <a:ext cx="2286000" cy="1828800"/>
          </a:xfrm>
          <a:prstGeom prst="rect">
            <a:avLst/>
          </a:prstGeom>
          <a:noFill/>
          <a:ln/>
        </p:spPr>
        <p:txBody>
          <a:bodyPr wrap="square" rtlCol="0" anchor="t"/>
          <a:lstStyle/>
          <a:p>
            <a:pPr indent="0" marL="0">
              <a:buNone/>
            </a:pPr>
            <a:r>
              <a:rPr lang="en-US" sz="1400" dirty="0">
                <a:solidFill>
                  <a:srgbClr val="2D2D2D"/>
                </a:solidFill>
                <a:latin typeface="Calibri" pitchFamily="34" charset="0"/>
                <a:ea typeface="Calibri" pitchFamily="34" charset="-122"/>
                <a:cs typeface="Calibri" pitchFamily="34" charset="-120"/>
              </a:rPr>
              <a:t>1923 kostade ett brod miljarder mark. Sparpengar blev vardelosa over en natt.</a:t>
            </a:r>
            <a:endParaRPr lang="en-US" sz="1400" dirty="0"/>
          </a:p>
        </p:txBody>
      </p:sp>
      <p:sp>
        <p:nvSpPr>
          <p:cNvPr id="8" name="Shape 6"/>
          <p:cNvSpPr/>
          <p:nvPr/>
        </p:nvSpPr>
        <p:spPr>
          <a:xfrm>
            <a:off x="320040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9" name="Text 7"/>
          <p:cNvSpPr/>
          <p:nvPr/>
        </p:nvSpPr>
        <p:spPr>
          <a:xfrm>
            <a:off x="3337560" y="1371600"/>
            <a:ext cx="2286000" cy="457200"/>
          </a:xfrm>
          <a:prstGeom prst="rect">
            <a:avLst/>
          </a:prstGeom>
          <a:noFill/>
          <a:ln/>
        </p:spPr>
        <p:txBody>
          <a:bodyPr wrap="square" rtlCol="0" anchor="ctr"/>
          <a:lstStyle/>
          <a:p>
            <a:pPr indent="0" marL="0">
              <a:buNone/>
            </a:pPr>
            <a:r>
              <a:rPr lang="en-US" sz="1800" b="1" dirty="0">
                <a:solidFill>
                  <a:srgbClr val="6D2E46"/>
                </a:solidFill>
                <a:latin typeface="Georgia" pitchFamily="34" charset="0"/>
                <a:ea typeface="Georgia" pitchFamily="34" charset="-122"/>
                <a:cs typeface="Georgia" pitchFamily="34" charset="-120"/>
              </a:rPr>
              <a:t>Politisk instabilitet</a:t>
            </a:r>
            <a:endParaRPr lang="en-US" sz="1800" dirty="0"/>
          </a:p>
        </p:txBody>
      </p:sp>
      <p:sp>
        <p:nvSpPr>
          <p:cNvPr id="10" name="Shape 8"/>
          <p:cNvSpPr/>
          <p:nvPr/>
        </p:nvSpPr>
        <p:spPr>
          <a:xfrm>
            <a:off x="3337560" y="1828800"/>
            <a:ext cx="1371600" cy="27432"/>
          </a:xfrm>
          <a:prstGeom prst="rect">
            <a:avLst/>
          </a:prstGeom>
          <a:solidFill>
            <a:srgbClr val="A26769"/>
          </a:solidFill>
          <a:ln/>
        </p:spPr>
      </p:sp>
      <p:sp>
        <p:nvSpPr>
          <p:cNvPr id="11" name="Text 9"/>
          <p:cNvSpPr/>
          <p:nvPr/>
        </p:nvSpPr>
        <p:spPr>
          <a:xfrm>
            <a:off x="3337560" y="2011680"/>
            <a:ext cx="2286000" cy="1828800"/>
          </a:xfrm>
          <a:prstGeom prst="rect">
            <a:avLst/>
          </a:prstGeom>
          <a:noFill/>
          <a:ln/>
        </p:spPr>
        <p:txBody>
          <a:bodyPr wrap="square" rtlCol="0" anchor="t"/>
          <a:lstStyle/>
          <a:p>
            <a:pPr indent="0" marL="0">
              <a:buNone/>
            </a:pPr>
            <a:r>
              <a:rPr lang="en-US" sz="1400" dirty="0">
                <a:solidFill>
                  <a:srgbClr val="2D2D2D"/>
                </a:solidFill>
                <a:latin typeface="Calibri" pitchFamily="34" charset="0"/>
                <a:ea typeface="Calibri" pitchFamily="34" charset="-122"/>
                <a:cs typeface="Calibri" pitchFamily="34" charset="-120"/>
              </a:rPr>
              <a:t>Extremister fran bade hoger och vanster hotade republiken. Kuppforsok och mord.</a:t>
            </a:r>
            <a:endParaRPr lang="en-US" sz="1400" dirty="0"/>
          </a:p>
        </p:txBody>
      </p:sp>
      <p:sp>
        <p:nvSpPr>
          <p:cNvPr id="12" name="Shape 10"/>
          <p:cNvSpPr/>
          <p:nvPr/>
        </p:nvSpPr>
        <p:spPr>
          <a:xfrm>
            <a:off x="603504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13" name="Text 11"/>
          <p:cNvSpPr/>
          <p:nvPr/>
        </p:nvSpPr>
        <p:spPr>
          <a:xfrm>
            <a:off x="6172200" y="1371600"/>
            <a:ext cx="2286000" cy="457200"/>
          </a:xfrm>
          <a:prstGeom prst="rect">
            <a:avLst/>
          </a:prstGeom>
          <a:noFill/>
          <a:ln/>
        </p:spPr>
        <p:txBody>
          <a:bodyPr wrap="square" rtlCol="0" anchor="ctr"/>
          <a:lstStyle/>
          <a:p>
            <a:pPr indent="0" marL="0">
              <a:buNone/>
            </a:pPr>
            <a:r>
              <a:rPr lang="en-US" sz="1800" b="1" dirty="0">
                <a:solidFill>
                  <a:srgbClr val="6D2E46"/>
                </a:solidFill>
                <a:latin typeface="Georgia" pitchFamily="34" charset="0"/>
                <a:ea typeface="Georgia" pitchFamily="34" charset="-122"/>
                <a:cs typeface="Georgia" pitchFamily="34" charset="-120"/>
              </a:rPr>
              <a:t>Ny demokrati</a:t>
            </a:r>
            <a:endParaRPr lang="en-US" sz="1800" dirty="0"/>
          </a:p>
        </p:txBody>
      </p:sp>
      <p:sp>
        <p:nvSpPr>
          <p:cNvPr id="14" name="Shape 12"/>
          <p:cNvSpPr/>
          <p:nvPr/>
        </p:nvSpPr>
        <p:spPr>
          <a:xfrm>
            <a:off x="6172200" y="1828800"/>
            <a:ext cx="1371600" cy="27432"/>
          </a:xfrm>
          <a:prstGeom prst="rect">
            <a:avLst/>
          </a:prstGeom>
          <a:solidFill>
            <a:srgbClr val="A26769"/>
          </a:solidFill>
          <a:ln/>
        </p:spPr>
      </p:sp>
      <p:sp>
        <p:nvSpPr>
          <p:cNvPr id="15" name="Text 13"/>
          <p:cNvSpPr/>
          <p:nvPr/>
        </p:nvSpPr>
        <p:spPr>
          <a:xfrm>
            <a:off x="6172200" y="2011680"/>
            <a:ext cx="2286000" cy="1828800"/>
          </a:xfrm>
          <a:prstGeom prst="rect">
            <a:avLst/>
          </a:prstGeom>
          <a:noFill/>
          <a:ln/>
        </p:spPr>
        <p:txBody>
          <a:bodyPr wrap="square" rtlCol="0" anchor="t"/>
          <a:lstStyle/>
          <a:p>
            <a:pPr indent="0" marL="0">
              <a:buNone/>
            </a:pPr>
            <a:r>
              <a:rPr lang="en-US" sz="1400" dirty="0">
                <a:solidFill>
                  <a:srgbClr val="2D2D2D"/>
                </a:solidFill>
                <a:latin typeface="Calibri" pitchFamily="34" charset="0"/>
                <a:ea typeface="Calibri" pitchFamily="34" charset="-122"/>
                <a:cs typeface="Calibri" pitchFamily="34" charset="-120"/>
              </a:rPr>
              <a:t>Inget demokratisk tradition. Manga saknade den gamla kejsardomen och ville ha en stark ledare.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26769"/>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Diskutera</a:t>
            </a:r>
            <a:endParaRPr lang="en-US" sz="2000" dirty="0"/>
          </a:p>
        </p:txBody>
      </p:sp>
      <p:sp>
        <p:nvSpPr>
          <p:cNvPr id="3" name="Text 1"/>
          <p:cNvSpPr/>
          <p:nvPr/>
        </p:nvSpPr>
        <p:spPr>
          <a:xfrm>
            <a:off x="914400" y="1371600"/>
            <a:ext cx="7315200" cy="2286000"/>
          </a:xfrm>
          <a:prstGeom prst="rect">
            <a:avLst/>
          </a:prstGeom>
          <a:noFill/>
          <a:ln/>
        </p:spPr>
        <p:txBody>
          <a:bodyPr wrap="square"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Var demokratins fall oundvikligt</a:t>
            </a:r>
            <a:endParaRPr lang="en-US" sz="3000" dirty="0"/>
          </a:p>
          <a:p>
            <a:pPr algn="ctr" indent="0" marL="0">
              <a:buNone/>
            </a:pPr>
            <a:r>
              <a:rPr lang="en-US" sz="3000" b="1" dirty="0">
                <a:solidFill>
                  <a:srgbClr val="FFFFFF"/>
                </a:solidFill>
                <a:latin typeface="Georgia" pitchFamily="34" charset="0"/>
                <a:ea typeface="Georgia" pitchFamily="34" charset="-122"/>
                <a:cs typeface="Georgia" pitchFamily="34" charset="-120"/>
              </a:rPr>
              <a:t>- eller kunde det ha gatt annorlunda?</a:t>
            </a:r>
            <a:endParaRPr lang="en-US" sz="3000" dirty="0"/>
          </a:p>
        </p:txBody>
      </p:sp>
      <p:sp>
        <p:nvSpPr>
          <p:cNvPr id="4" name="Shape 2"/>
          <p:cNvSpPr/>
          <p:nvPr/>
        </p:nvSpPr>
        <p:spPr>
          <a:xfrm>
            <a:off x="3200400" y="3931920"/>
            <a:ext cx="2743200" cy="36576"/>
          </a:xfrm>
          <a:prstGeom prst="rect">
            <a:avLst/>
          </a:prstGeom>
          <a:solidFill>
            <a:srgbClr val="FFFFFF"/>
          </a:solidFill>
          <a:ln/>
        </p:spPr>
      </p:sp>
      <p:sp>
        <p:nvSpPr>
          <p:cNvPr id="5" name="Text 3"/>
          <p:cNvSpPr/>
          <p:nvPr/>
        </p:nvSpPr>
        <p:spPr>
          <a:xfrm>
            <a:off x="914400" y="4114800"/>
            <a:ext cx="7315200" cy="548640"/>
          </a:xfrm>
          <a:prstGeom prst="rect">
            <a:avLst/>
          </a:prstGeom>
          <a:noFill/>
          <a:ln/>
        </p:spPr>
        <p:txBody>
          <a:bodyPr wrap="square"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Prata i par, 3 minuter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2800" b="1" dirty="0">
                <a:solidFill>
                  <a:srgbClr val="6D2E46"/>
                </a:solidFill>
                <a:latin typeface="Georgia" pitchFamily="34" charset="0"/>
                <a:ea typeface="Georgia" pitchFamily="34" charset="-122"/>
                <a:cs typeface="Georgia" pitchFamily="34" charset="-120"/>
              </a:rPr>
              <a:t>Hur paverkade depressionen politiken?</a:t>
            </a:r>
            <a:endParaRPr lang="en-US" sz="2800" dirty="0"/>
          </a:p>
        </p:txBody>
      </p:sp>
      <p:sp>
        <p:nvSpPr>
          <p:cNvPr id="3" name="Shape 1"/>
          <p:cNvSpPr/>
          <p:nvPr/>
        </p:nvSpPr>
        <p:spPr>
          <a:xfrm>
            <a:off x="548640" y="960120"/>
            <a:ext cx="2286000" cy="36576"/>
          </a:xfrm>
          <a:prstGeom prst="rect">
            <a:avLst/>
          </a:prstGeom>
          <a:solidFill>
            <a:srgbClr val="A26769"/>
          </a:solidFill>
          <a:ln/>
        </p:spPr>
      </p:sp>
      <p:sp>
        <p:nvSpPr>
          <p:cNvPr id="4" name="Text 2"/>
          <p:cNvSpPr/>
          <p:nvPr/>
        </p:nvSpPr>
        <p:spPr>
          <a:xfrm>
            <a:off x="548640" y="1188720"/>
            <a:ext cx="5303520" cy="2286000"/>
          </a:xfrm>
          <a:prstGeom prst="rect">
            <a:avLst/>
          </a:prstGeom>
          <a:noFill/>
          <a:ln/>
        </p:spPr>
        <p:txBody>
          <a:bodyPr wrap="square" rtlCol="0" anchor="t"/>
          <a:lstStyle/>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Massarbetsloshet - miljontals manniskor forlorade jobbet och hoppet</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Forlorat fortroende - demokratiska politiker verkade maktlosa</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Extremism vaxte - bade kommunister och fascister lovade enkla losningar</a:t>
            </a:r>
            <a:endParaRPr lang="en-US" sz="1600" dirty="0"/>
          </a:p>
        </p:txBody>
      </p:sp>
      <p:sp>
        <p:nvSpPr>
          <p:cNvPr id="5" name="Shape 3"/>
          <p:cNvSpPr/>
          <p:nvPr/>
        </p:nvSpPr>
        <p:spPr>
          <a:xfrm>
            <a:off x="5943600" y="1188720"/>
            <a:ext cx="2926080" cy="2743200"/>
          </a:xfrm>
          <a:prstGeom prst="roundRect">
            <a:avLst>
              <a:gd name="adj" fmla="val 3333"/>
            </a:avLst>
          </a:prstGeom>
          <a:solidFill>
            <a:srgbClr val="FFFFFF"/>
          </a:solidFill>
          <a:ln/>
          <a:effectLst>
            <a:outerShdw sx="100000" sy="100000" kx="0" ky="0" algn="bl" rotWithShape="0" blurRad="50800" dist="25400" dir="16200000">
              <a:srgbClr val="CCCCCC">
                <a:alpha val="30000"/>
              </a:srgbClr>
            </a:outerShdw>
          </a:effectLst>
        </p:spPr>
      </p:sp>
      <p:sp>
        <p:nvSpPr>
          <p:cNvPr id="6" name="Text 4"/>
          <p:cNvSpPr/>
          <p:nvPr/>
        </p:nvSpPr>
        <p:spPr>
          <a:xfrm>
            <a:off x="6035040" y="1280160"/>
            <a:ext cx="2743200" cy="2560320"/>
          </a:xfrm>
          <a:prstGeom prst="rect">
            <a:avLst/>
          </a:prstGeom>
          <a:noFill/>
          <a:ln/>
        </p:spPr>
        <p:txBody>
          <a:bodyPr wrap="square" rtlCol="0" anchor="ctr"/>
          <a:lstStyle/>
          <a:p>
            <a:pPr algn="ctr" indent="0" marL="0">
              <a:buNone/>
            </a:pPr>
            <a:r>
              <a:rPr lang="en-US" sz="1500" b="1" dirty="0">
                <a:solidFill>
                  <a:srgbClr val="6D2E46"/>
                </a:solidFill>
                <a:latin typeface="Calibri" pitchFamily="34" charset="0"/>
                <a:ea typeface="Calibri" pitchFamily="34" charset="-122"/>
                <a:cs typeface="Calibri" pitchFamily="34" charset="-120"/>
              </a:rPr>
              <a:t>Tidslinje</a:t>
            </a:r>
            <a:pPr indent="0" marL="0">
              <a:buNone/>
            </a:pPr>
            <a:endParaRPr lang="en-US" sz="1500" dirty="0"/>
          </a:p>
          <a:p>
            <a:pPr algn="ctr" indent="0" marL="0">
              <a:buNone/>
            </a:pPr>
            <a:r>
              <a:rPr lang="en-US" sz="1300" dirty="0">
                <a:solidFill>
                  <a:srgbClr val="2D2D2D"/>
                </a:solidFill>
                <a:latin typeface="Calibri" pitchFamily="34" charset="0"/>
                <a:ea typeface="Calibri" pitchFamily="34" charset="-122"/>
                <a:cs typeface="Calibri" pitchFamily="34" charset="-120"/>
              </a:rPr>
              <a:t>1929 - Borskraschen</a:t>
            </a:r>
            <a:pPr algn="ctr" indent="0" marL="0">
              <a:buNone/>
            </a:pPr>
            <a:r>
              <a:rPr lang="en-US" sz="1300" dirty="0">
                <a:solidFill>
                  <a:srgbClr val="2D2D2D"/>
                </a:solidFill>
                <a:latin typeface="Calibri" pitchFamily="34" charset="0"/>
                <a:ea typeface="Calibri" pitchFamily="34" charset="-122"/>
                <a:cs typeface="Calibri" pitchFamily="34" charset="-120"/>
              </a:rPr>
              <a:t>1930 - Arbetslosheten exploderar</a:t>
            </a:r>
            <a:endParaRPr lang="en-US" sz="1500" dirty="0"/>
          </a:p>
          <a:p>
            <a:pPr algn="ctr" indent="0" marL="0">
              <a:buNone/>
            </a:pPr>
            <a:r>
              <a:rPr lang="en-US" sz="1300" dirty="0">
                <a:solidFill>
                  <a:srgbClr val="2D2D2D"/>
                </a:solidFill>
                <a:latin typeface="Calibri" pitchFamily="34" charset="0"/>
                <a:ea typeface="Calibri" pitchFamily="34" charset="-122"/>
                <a:cs typeface="Calibri" pitchFamily="34" charset="-120"/>
              </a:rPr>
              <a:t>1932 - 6 milj. arbetslosa i Tyskland</a:t>
            </a:r>
            <a:endParaRPr lang="en-US" sz="1500" dirty="0"/>
          </a:p>
          <a:p>
            <a:pPr algn="ctr" indent="0" marL="0">
              <a:buNone/>
            </a:pPr>
            <a:r>
              <a:rPr lang="en-US" sz="1300" dirty="0">
                <a:solidFill>
                  <a:srgbClr val="2D2D2D"/>
                </a:solidFill>
                <a:latin typeface="Calibri" pitchFamily="34" charset="0"/>
                <a:ea typeface="Calibri" pitchFamily="34" charset="-122"/>
                <a:cs typeface="Calibri" pitchFamily="34" charset="-120"/>
              </a:rPr>
              <a:t>1933 - Hitler blir rikskansler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3200" b="1" dirty="0">
                <a:solidFill>
                  <a:srgbClr val="6D2E46"/>
                </a:solidFill>
                <a:latin typeface="Georgia" pitchFamily="34" charset="0"/>
                <a:ea typeface="Georgia" pitchFamily="34" charset="-122"/>
                <a:cs typeface="Georgia" pitchFamily="34" charset="-120"/>
              </a:rPr>
              <a:t>Vad ar fascism?</a:t>
            </a:r>
            <a:endParaRPr lang="en-US" sz="3200" dirty="0"/>
          </a:p>
        </p:txBody>
      </p:sp>
      <p:sp>
        <p:nvSpPr>
          <p:cNvPr id="3" name="Shape 1"/>
          <p:cNvSpPr/>
          <p:nvPr/>
        </p:nvSpPr>
        <p:spPr>
          <a:xfrm>
            <a:off x="548640" y="960120"/>
            <a:ext cx="1828800" cy="36576"/>
          </a:xfrm>
          <a:prstGeom prst="rect">
            <a:avLst/>
          </a:prstGeom>
          <a:solidFill>
            <a:srgbClr val="A26769"/>
          </a:solidFill>
          <a:ln/>
        </p:spPr>
      </p:sp>
      <p:sp>
        <p:nvSpPr>
          <p:cNvPr id="4" name="Shape 2"/>
          <p:cNvSpPr/>
          <p:nvPr/>
        </p:nvSpPr>
        <p:spPr>
          <a:xfrm>
            <a:off x="36576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5" name="Text 3"/>
          <p:cNvSpPr/>
          <p:nvPr/>
        </p:nvSpPr>
        <p:spPr>
          <a:xfrm>
            <a:off x="502920" y="1371600"/>
            <a:ext cx="2286000" cy="457200"/>
          </a:xfrm>
          <a:prstGeom prst="rect">
            <a:avLst/>
          </a:prstGeom>
          <a:noFill/>
          <a:ln/>
        </p:spPr>
        <p:txBody>
          <a:bodyPr wrap="square" rtlCol="0" anchor="ctr"/>
          <a:lstStyle/>
          <a:p>
            <a:pPr algn="ctr" indent="0" marL="0">
              <a:buNone/>
            </a:pPr>
            <a:r>
              <a:rPr lang="en-US" sz="2000" b="1" dirty="0">
                <a:solidFill>
                  <a:srgbClr val="6D2E46"/>
                </a:solidFill>
                <a:latin typeface="Georgia" pitchFamily="34" charset="0"/>
                <a:ea typeface="Georgia" pitchFamily="34" charset="-122"/>
                <a:cs typeface="Georgia" pitchFamily="34" charset="-120"/>
              </a:rPr>
              <a:t>Ledarkultur</a:t>
            </a:r>
            <a:endParaRPr lang="en-US" sz="2000" dirty="0"/>
          </a:p>
        </p:txBody>
      </p:sp>
      <p:sp>
        <p:nvSpPr>
          <p:cNvPr id="6" name="Shape 4"/>
          <p:cNvSpPr/>
          <p:nvPr/>
        </p:nvSpPr>
        <p:spPr>
          <a:xfrm>
            <a:off x="914400" y="1828800"/>
            <a:ext cx="1463040" cy="27432"/>
          </a:xfrm>
          <a:prstGeom prst="rect">
            <a:avLst/>
          </a:prstGeom>
          <a:solidFill>
            <a:srgbClr val="A26769"/>
          </a:solidFill>
          <a:ln/>
        </p:spPr>
      </p:sp>
      <p:sp>
        <p:nvSpPr>
          <p:cNvPr id="7" name="Text 5"/>
          <p:cNvSpPr/>
          <p:nvPr/>
        </p:nvSpPr>
        <p:spPr>
          <a:xfrm>
            <a:off x="502920" y="2011680"/>
            <a:ext cx="2286000" cy="1828800"/>
          </a:xfrm>
          <a:prstGeom prst="rect">
            <a:avLst/>
          </a:prstGeom>
          <a:noFill/>
          <a:ln/>
        </p:spPr>
        <p:txBody>
          <a:bodyPr wrap="square" rtlCol="0" anchor="t"/>
          <a:lstStyle/>
          <a:p>
            <a:pPr algn="ctr" indent="0" marL="0">
              <a:buNone/>
            </a:pPr>
            <a:r>
              <a:rPr lang="en-US" sz="1500" dirty="0">
                <a:solidFill>
                  <a:srgbClr val="2D2D2D"/>
                </a:solidFill>
                <a:latin typeface="Calibri" pitchFamily="34" charset="0"/>
                <a:ea typeface="Calibri" pitchFamily="34" charset="-122"/>
                <a:cs typeface="Calibri" pitchFamily="34" charset="-120"/>
              </a:rPr>
              <a:t>En stark ledare som star over lagen. Folket ska lyda, inte ifragasatta.</a:t>
            </a:r>
            <a:endParaRPr lang="en-US" sz="1500" dirty="0"/>
          </a:p>
        </p:txBody>
      </p:sp>
      <p:sp>
        <p:nvSpPr>
          <p:cNvPr id="8" name="Shape 6"/>
          <p:cNvSpPr/>
          <p:nvPr/>
        </p:nvSpPr>
        <p:spPr>
          <a:xfrm>
            <a:off x="320040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9" name="Text 7"/>
          <p:cNvSpPr/>
          <p:nvPr/>
        </p:nvSpPr>
        <p:spPr>
          <a:xfrm>
            <a:off x="3337560" y="1371600"/>
            <a:ext cx="2286000" cy="457200"/>
          </a:xfrm>
          <a:prstGeom prst="rect">
            <a:avLst/>
          </a:prstGeom>
          <a:noFill/>
          <a:ln/>
        </p:spPr>
        <p:txBody>
          <a:bodyPr wrap="square" rtlCol="0" anchor="ctr"/>
          <a:lstStyle/>
          <a:p>
            <a:pPr algn="ctr" indent="0" marL="0">
              <a:buNone/>
            </a:pPr>
            <a:r>
              <a:rPr lang="en-US" sz="2000" b="1" dirty="0">
                <a:solidFill>
                  <a:srgbClr val="6D2E46"/>
                </a:solidFill>
                <a:latin typeface="Georgia" pitchFamily="34" charset="0"/>
                <a:ea typeface="Georgia" pitchFamily="34" charset="-122"/>
                <a:cs typeface="Georgia" pitchFamily="34" charset="-120"/>
              </a:rPr>
              <a:t>Nationalism</a:t>
            </a:r>
            <a:endParaRPr lang="en-US" sz="2000" dirty="0"/>
          </a:p>
        </p:txBody>
      </p:sp>
      <p:sp>
        <p:nvSpPr>
          <p:cNvPr id="10" name="Shape 8"/>
          <p:cNvSpPr/>
          <p:nvPr/>
        </p:nvSpPr>
        <p:spPr>
          <a:xfrm>
            <a:off x="3749040" y="1828800"/>
            <a:ext cx="1463040" cy="27432"/>
          </a:xfrm>
          <a:prstGeom prst="rect">
            <a:avLst/>
          </a:prstGeom>
          <a:solidFill>
            <a:srgbClr val="A26769"/>
          </a:solidFill>
          <a:ln/>
        </p:spPr>
      </p:sp>
      <p:sp>
        <p:nvSpPr>
          <p:cNvPr id="11" name="Text 9"/>
          <p:cNvSpPr/>
          <p:nvPr/>
        </p:nvSpPr>
        <p:spPr>
          <a:xfrm>
            <a:off x="3337560" y="2011680"/>
            <a:ext cx="2286000" cy="1828800"/>
          </a:xfrm>
          <a:prstGeom prst="rect">
            <a:avLst/>
          </a:prstGeom>
          <a:noFill/>
          <a:ln/>
        </p:spPr>
        <p:txBody>
          <a:bodyPr wrap="square" rtlCol="0" anchor="t"/>
          <a:lstStyle/>
          <a:p>
            <a:pPr algn="ctr" indent="0" marL="0">
              <a:buNone/>
            </a:pPr>
            <a:r>
              <a:rPr lang="en-US" sz="1500" dirty="0">
                <a:solidFill>
                  <a:srgbClr val="2D2D2D"/>
                </a:solidFill>
                <a:latin typeface="Calibri" pitchFamily="34" charset="0"/>
                <a:ea typeface="Calibri" pitchFamily="34" charset="-122"/>
                <a:cs typeface="Calibri" pitchFamily="34" charset="-120"/>
              </a:rPr>
              <a:t>Nationen over allt. Vi mot dom. Det egna folket ar overlagset.</a:t>
            </a:r>
            <a:endParaRPr lang="en-US" sz="1500" dirty="0"/>
          </a:p>
        </p:txBody>
      </p:sp>
      <p:sp>
        <p:nvSpPr>
          <p:cNvPr id="12" name="Shape 10"/>
          <p:cNvSpPr/>
          <p:nvPr/>
        </p:nvSpPr>
        <p:spPr>
          <a:xfrm>
            <a:off x="603504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13" name="Text 11"/>
          <p:cNvSpPr/>
          <p:nvPr/>
        </p:nvSpPr>
        <p:spPr>
          <a:xfrm>
            <a:off x="6172200" y="1371600"/>
            <a:ext cx="2286000" cy="457200"/>
          </a:xfrm>
          <a:prstGeom prst="rect">
            <a:avLst/>
          </a:prstGeom>
          <a:noFill/>
          <a:ln/>
        </p:spPr>
        <p:txBody>
          <a:bodyPr wrap="square" rtlCol="0" anchor="ctr"/>
          <a:lstStyle/>
          <a:p>
            <a:pPr algn="ctr" indent="0" marL="0">
              <a:buNone/>
            </a:pPr>
            <a:r>
              <a:rPr lang="en-US" sz="2000" b="1" dirty="0">
                <a:solidFill>
                  <a:srgbClr val="6D2E46"/>
                </a:solidFill>
                <a:latin typeface="Georgia" pitchFamily="34" charset="0"/>
                <a:ea typeface="Georgia" pitchFamily="34" charset="-122"/>
                <a:cs typeface="Georgia" pitchFamily="34" charset="-120"/>
              </a:rPr>
              <a:t>Antidemokrati</a:t>
            </a:r>
            <a:endParaRPr lang="en-US" sz="2000" dirty="0"/>
          </a:p>
        </p:txBody>
      </p:sp>
      <p:sp>
        <p:nvSpPr>
          <p:cNvPr id="14" name="Shape 12"/>
          <p:cNvSpPr/>
          <p:nvPr/>
        </p:nvSpPr>
        <p:spPr>
          <a:xfrm>
            <a:off x="6583680" y="1828800"/>
            <a:ext cx="1463040" cy="27432"/>
          </a:xfrm>
          <a:prstGeom prst="rect">
            <a:avLst/>
          </a:prstGeom>
          <a:solidFill>
            <a:srgbClr val="A26769"/>
          </a:solidFill>
          <a:ln/>
        </p:spPr>
      </p:sp>
      <p:sp>
        <p:nvSpPr>
          <p:cNvPr id="15" name="Text 13"/>
          <p:cNvSpPr/>
          <p:nvPr/>
        </p:nvSpPr>
        <p:spPr>
          <a:xfrm>
            <a:off x="6172200" y="2011680"/>
            <a:ext cx="2286000" cy="1828800"/>
          </a:xfrm>
          <a:prstGeom prst="rect">
            <a:avLst/>
          </a:prstGeom>
          <a:noFill/>
          <a:ln/>
        </p:spPr>
        <p:txBody>
          <a:bodyPr wrap="square" rtlCol="0" anchor="t"/>
          <a:lstStyle/>
          <a:p>
            <a:pPr algn="ctr" indent="0" marL="0">
              <a:buNone/>
            </a:pPr>
            <a:r>
              <a:rPr lang="en-US" sz="1500" dirty="0">
                <a:solidFill>
                  <a:srgbClr val="2D2D2D"/>
                </a:solidFill>
                <a:latin typeface="Calibri" pitchFamily="34" charset="0"/>
                <a:ea typeface="Calibri" pitchFamily="34" charset="-122"/>
                <a:cs typeface="Calibri" pitchFamily="34" charset="-120"/>
              </a:rPr>
              <a:t>Demokrati ses som svagt. Parlamentet ersatts av enpartistyre.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2800" b="1" dirty="0">
                <a:solidFill>
                  <a:srgbClr val="6D2E46"/>
                </a:solidFill>
                <a:latin typeface="Georgia" pitchFamily="34" charset="0"/>
                <a:ea typeface="Georgia" pitchFamily="34" charset="-122"/>
                <a:cs typeface="Georgia" pitchFamily="34" charset="-120"/>
              </a:rPr>
              <a:t>Vad skiljer nazismen fran fascismen?</a:t>
            </a:r>
            <a:endParaRPr lang="en-US" sz="2800" dirty="0"/>
          </a:p>
        </p:txBody>
      </p:sp>
      <p:sp>
        <p:nvSpPr>
          <p:cNvPr id="3" name="Shape 1"/>
          <p:cNvSpPr/>
          <p:nvPr/>
        </p:nvSpPr>
        <p:spPr>
          <a:xfrm>
            <a:off x="548640" y="960120"/>
            <a:ext cx="2286000" cy="36576"/>
          </a:xfrm>
          <a:prstGeom prst="rect">
            <a:avLst/>
          </a:prstGeom>
          <a:solidFill>
            <a:srgbClr val="A26769"/>
          </a:solidFill>
          <a:ln/>
        </p:spPr>
      </p:sp>
      <p:sp>
        <p:nvSpPr>
          <p:cNvPr id="4" name="Text 2"/>
          <p:cNvSpPr/>
          <p:nvPr/>
        </p:nvSpPr>
        <p:spPr>
          <a:xfrm>
            <a:off x="548640" y="1188720"/>
            <a:ext cx="8046720" cy="2286000"/>
          </a:xfrm>
          <a:prstGeom prst="rect">
            <a:avLst/>
          </a:prstGeom>
          <a:noFill/>
          <a:ln/>
        </p:spPr>
        <p:txBody>
          <a:bodyPr wrap="square" rtlCol="0" anchor="t"/>
          <a:lstStyle/>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Rasideologi - tron pa en arisk overras, pseudovetenskaplig rasbiologi</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Antisemitism - judar utpekades som syndabockar for alla Tysklands problem</a:t>
            </a:r>
            <a:endParaRPr lang="en-US" sz="1600" dirty="0"/>
          </a:p>
          <a:p>
            <a:pPr algn="l" marL="342900" indent="-342900">
              <a:buSzPct val="100000"/>
              <a:buChar char="•"/>
            </a:pPr>
            <a:r>
              <a:rPr lang="en-US" sz="1600" dirty="0">
                <a:solidFill>
                  <a:srgbClr val="2D2D2D"/>
                </a:solidFill>
                <a:latin typeface="Calibri" pitchFamily="34" charset="0"/>
                <a:ea typeface="Calibri" pitchFamily="34" charset="-122"/>
                <a:cs typeface="Calibri" pitchFamily="34" charset="-120"/>
              </a:rPr>
              <a:t>Hitlers vag till makten - fran olkallarkupp till rikskansler genom demokratiska val</a:t>
            </a:r>
            <a:endParaRPr lang="en-US" sz="1600" dirty="0"/>
          </a:p>
        </p:txBody>
      </p:sp>
      <p:sp>
        <p:nvSpPr>
          <p:cNvPr id="5" name="Shape 3"/>
          <p:cNvSpPr/>
          <p:nvPr/>
        </p:nvSpPr>
        <p:spPr>
          <a:xfrm>
            <a:off x="1371600" y="3474720"/>
            <a:ext cx="6400800" cy="1097280"/>
          </a:xfrm>
          <a:prstGeom prst="roundRect">
            <a:avLst>
              <a:gd name="adj" fmla="val 8333"/>
            </a:avLst>
          </a:prstGeom>
          <a:solidFill>
            <a:srgbClr val="6D2E46"/>
          </a:solidFill>
          <a:ln/>
        </p:spPr>
      </p:sp>
      <p:sp>
        <p:nvSpPr>
          <p:cNvPr id="6" name="Text 4"/>
          <p:cNvSpPr/>
          <p:nvPr/>
        </p:nvSpPr>
        <p:spPr>
          <a:xfrm>
            <a:off x="1554480" y="3566160"/>
            <a:ext cx="6035040" cy="9144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Viktigt: Hitler kom till makten genom demokratiska val - inte genom en statskupp.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A26769"/>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Diskutera</a:t>
            </a:r>
            <a:endParaRPr lang="en-US" sz="2000" dirty="0"/>
          </a:p>
        </p:txBody>
      </p:sp>
      <p:sp>
        <p:nvSpPr>
          <p:cNvPr id="3" name="Text 1"/>
          <p:cNvSpPr/>
          <p:nvPr/>
        </p:nvSpPr>
        <p:spPr>
          <a:xfrm>
            <a:off x="914400" y="1188720"/>
            <a:ext cx="7315200" cy="22860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Blev Hitler diktator tack vare sin skicklighet (aktor)</a:t>
            </a:r>
            <a:endParaRPr lang="en-US" sz="2800" dirty="0"/>
          </a:p>
          <a:p>
            <a:pPr algn="ctr" indent="0" marL="0">
              <a:buNone/>
            </a:pPr>
            <a:r>
              <a:rPr lang="en-US" sz="2800" b="1" dirty="0">
                <a:solidFill>
                  <a:srgbClr val="FFFFFF"/>
                </a:solidFill>
                <a:latin typeface="Georgia" pitchFamily="34" charset="0"/>
                <a:ea typeface="Georgia" pitchFamily="34" charset="-122"/>
                <a:cs typeface="Georgia" pitchFamily="34" charset="-120"/>
              </a:rPr>
              <a:t>- eller samhallets kriser (struktur)?</a:t>
            </a:r>
            <a:endParaRPr lang="en-US" sz="2800" dirty="0"/>
          </a:p>
        </p:txBody>
      </p:sp>
      <p:sp>
        <p:nvSpPr>
          <p:cNvPr id="4" name="Shape 2"/>
          <p:cNvSpPr/>
          <p:nvPr/>
        </p:nvSpPr>
        <p:spPr>
          <a:xfrm>
            <a:off x="3200400" y="3657600"/>
            <a:ext cx="2743200" cy="36576"/>
          </a:xfrm>
          <a:prstGeom prst="rect">
            <a:avLst/>
          </a:prstGeom>
          <a:solidFill>
            <a:srgbClr val="FFFFFF"/>
          </a:solidFill>
          <a:ln/>
        </p:spPr>
      </p:sp>
      <p:sp>
        <p:nvSpPr>
          <p:cNvPr id="5" name="Text 3"/>
          <p:cNvSpPr/>
          <p:nvPr/>
        </p:nvSpPr>
        <p:spPr>
          <a:xfrm>
            <a:off x="914400" y="3840480"/>
            <a:ext cx="7315200" cy="73152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Tips: Tanka pa bade personliga egenskaper och omstandigheter i samhallet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3000" b="1" dirty="0">
                <a:solidFill>
                  <a:srgbClr val="6D2E46"/>
                </a:solidFill>
                <a:latin typeface="Georgia" pitchFamily="34" charset="0"/>
                <a:ea typeface="Georgia" pitchFamily="34" charset="-122"/>
                <a:cs typeface="Georgia" pitchFamily="34" charset="-120"/>
              </a:rPr>
              <a:t>Hur fungerade propagandan?</a:t>
            </a:r>
            <a:endParaRPr lang="en-US" sz="3000" dirty="0"/>
          </a:p>
        </p:txBody>
      </p:sp>
      <p:sp>
        <p:nvSpPr>
          <p:cNvPr id="3" name="Shape 1"/>
          <p:cNvSpPr/>
          <p:nvPr/>
        </p:nvSpPr>
        <p:spPr>
          <a:xfrm>
            <a:off x="548640" y="960120"/>
            <a:ext cx="2286000" cy="36576"/>
          </a:xfrm>
          <a:prstGeom prst="rect">
            <a:avLst/>
          </a:prstGeom>
          <a:solidFill>
            <a:srgbClr val="A26769"/>
          </a:solidFill>
          <a:ln/>
        </p:spPr>
      </p:sp>
      <p:sp>
        <p:nvSpPr>
          <p:cNvPr id="4" name="Shape 2"/>
          <p:cNvSpPr/>
          <p:nvPr/>
        </p:nvSpPr>
        <p:spPr>
          <a:xfrm>
            <a:off x="36576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5" name="Text 3"/>
          <p:cNvSpPr/>
          <p:nvPr/>
        </p:nvSpPr>
        <p:spPr>
          <a:xfrm>
            <a:off x="502920" y="1371600"/>
            <a:ext cx="2286000" cy="548640"/>
          </a:xfrm>
          <a:prstGeom prst="rect">
            <a:avLst/>
          </a:prstGeom>
          <a:noFill/>
          <a:ln/>
        </p:spPr>
        <p:txBody>
          <a:bodyPr wrap="square" rtlCol="0" anchor="ctr"/>
          <a:lstStyle/>
          <a:p>
            <a:pPr algn="ctr" indent="0" marL="0">
              <a:buNone/>
            </a:pPr>
            <a:r>
              <a:rPr lang="en-US" sz="1600" b="1" dirty="0">
                <a:solidFill>
                  <a:srgbClr val="6D2E46"/>
                </a:solidFill>
                <a:latin typeface="Georgia" pitchFamily="34" charset="0"/>
                <a:ea typeface="Georgia" pitchFamily="34" charset="-122"/>
                <a:cs typeface="Georgia" pitchFamily="34" charset="-120"/>
              </a:rPr>
              <a:t>Goebbels - propagandaministern</a:t>
            </a:r>
            <a:endParaRPr lang="en-US" sz="1600" dirty="0"/>
          </a:p>
        </p:txBody>
      </p:sp>
      <p:sp>
        <p:nvSpPr>
          <p:cNvPr id="6" name="Shape 4"/>
          <p:cNvSpPr/>
          <p:nvPr/>
        </p:nvSpPr>
        <p:spPr>
          <a:xfrm>
            <a:off x="914400" y="1920240"/>
            <a:ext cx="1463040" cy="27432"/>
          </a:xfrm>
          <a:prstGeom prst="rect">
            <a:avLst/>
          </a:prstGeom>
          <a:solidFill>
            <a:srgbClr val="A26769"/>
          </a:solidFill>
          <a:ln/>
        </p:spPr>
      </p:sp>
      <p:sp>
        <p:nvSpPr>
          <p:cNvPr id="7" name="Text 5"/>
          <p:cNvSpPr/>
          <p:nvPr/>
        </p:nvSpPr>
        <p:spPr>
          <a:xfrm>
            <a:off x="502920" y="2103120"/>
            <a:ext cx="2286000" cy="1828800"/>
          </a:xfrm>
          <a:prstGeom prst="rect">
            <a:avLst/>
          </a:prstGeom>
          <a:noFill/>
          <a:ln/>
        </p:spPr>
        <p:txBody>
          <a:bodyPr wrap="square" rtlCol="0" anchor="t"/>
          <a:lstStyle/>
          <a:p>
            <a:pPr algn="ctr" indent="0" marL="0">
              <a:buNone/>
            </a:pPr>
            <a:r>
              <a:rPr lang="en-US" sz="1400" dirty="0">
                <a:solidFill>
                  <a:srgbClr val="2D2D2D"/>
                </a:solidFill>
                <a:latin typeface="Calibri" pitchFamily="34" charset="0"/>
                <a:ea typeface="Calibri" pitchFamily="34" charset="-122"/>
                <a:cs typeface="Calibri" pitchFamily="34" charset="-120"/>
              </a:rPr>
              <a:t>Joseph Goebbels kontrollerade all information. Hans uppdrag: fa folket att alska Hitler.</a:t>
            </a:r>
            <a:endParaRPr lang="en-US" sz="1400" dirty="0"/>
          </a:p>
        </p:txBody>
      </p:sp>
      <p:sp>
        <p:nvSpPr>
          <p:cNvPr id="8" name="Shape 6"/>
          <p:cNvSpPr/>
          <p:nvPr/>
        </p:nvSpPr>
        <p:spPr>
          <a:xfrm>
            <a:off x="320040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9" name="Text 7"/>
          <p:cNvSpPr/>
          <p:nvPr/>
        </p:nvSpPr>
        <p:spPr>
          <a:xfrm>
            <a:off x="3337560" y="1371600"/>
            <a:ext cx="2286000" cy="548640"/>
          </a:xfrm>
          <a:prstGeom prst="rect">
            <a:avLst/>
          </a:prstGeom>
          <a:noFill/>
          <a:ln/>
        </p:spPr>
        <p:txBody>
          <a:bodyPr wrap="square" rtlCol="0" anchor="ctr"/>
          <a:lstStyle/>
          <a:p>
            <a:pPr algn="ctr" indent="0" marL="0">
              <a:buNone/>
            </a:pPr>
            <a:r>
              <a:rPr lang="en-US" sz="1600" b="1" dirty="0">
                <a:solidFill>
                  <a:srgbClr val="6D2E46"/>
                </a:solidFill>
                <a:latin typeface="Georgia" pitchFamily="34" charset="0"/>
                <a:ea typeface="Georgia" pitchFamily="34" charset="-122"/>
                <a:cs typeface="Georgia" pitchFamily="34" charset="-120"/>
              </a:rPr>
              <a:t>Kontroll av media</a:t>
            </a:r>
            <a:endParaRPr lang="en-US" sz="1600" dirty="0"/>
          </a:p>
        </p:txBody>
      </p:sp>
      <p:sp>
        <p:nvSpPr>
          <p:cNvPr id="10" name="Shape 8"/>
          <p:cNvSpPr/>
          <p:nvPr/>
        </p:nvSpPr>
        <p:spPr>
          <a:xfrm>
            <a:off x="3749040" y="1920240"/>
            <a:ext cx="1463040" cy="27432"/>
          </a:xfrm>
          <a:prstGeom prst="rect">
            <a:avLst/>
          </a:prstGeom>
          <a:solidFill>
            <a:srgbClr val="A26769"/>
          </a:solidFill>
          <a:ln/>
        </p:spPr>
      </p:sp>
      <p:sp>
        <p:nvSpPr>
          <p:cNvPr id="11" name="Text 9"/>
          <p:cNvSpPr/>
          <p:nvPr/>
        </p:nvSpPr>
        <p:spPr>
          <a:xfrm>
            <a:off x="3337560" y="2103120"/>
            <a:ext cx="2286000" cy="1828800"/>
          </a:xfrm>
          <a:prstGeom prst="rect">
            <a:avLst/>
          </a:prstGeom>
          <a:noFill/>
          <a:ln/>
        </p:spPr>
        <p:txBody>
          <a:bodyPr wrap="square" rtlCol="0" anchor="t"/>
          <a:lstStyle/>
          <a:p>
            <a:pPr algn="ctr" indent="0" marL="0">
              <a:buNone/>
            </a:pPr>
            <a:r>
              <a:rPr lang="en-US" sz="1400" dirty="0">
                <a:solidFill>
                  <a:srgbClr val="2D2D2D"/>
                </a:solidFill>
                <a:latin typeface="Calibri" pitchFamily="34" charset="0"/>
                <a:ea typeface="Calibri" pitchFamily="34" charset="-122"/>
                <a:cs typeface="Calibri" pitchFamily="34" charset="-120"/>
              </a:rPr>
              <a:t>Tidningar, bocker och konst censurerades. Bara det godkanda budskapet fick spridas.</a:t>
            </a:r>
            <a:endParaRPr lang="en-US" sz="1400" dirty="0"/>
          </a:p>
        </p:txBody>
      </p:sp>
      <p:sp>
        <p:nvSpPr>
          <p:cNvPr id="12" name="Shape 10"/>
          <p:cNvSpPr/>
          <p:nvPr/>
        </p:nvSpPr>
        <p:spPr>
          <a:xfrm>
            <a:off x="6035040" y="1188720"/>
            <a:ext cx="2560320" cy="2926080"/>
          </a:xfrm>
          <a:prstGeom prst="roundRect">
            <a:avLst>
              <a:gd name="adj" fmla="val 3571"/>
            </a:avLst>
          </a:prstGeom>
          <a:solidFill>
            <a:srgbClr val="FFFFFF"/>
          </a:solidFill>
          <a:ln/>
          <a:effectLst>
            <a:outerShdw sx="100000" sy="100000" kx="0" ky="0" algn="bl" rotWithShape="0" blurRad="50800" dist="25400" dir="16200000">
              <a:srgbClr val="CCCCCC">
                <a:alpha val="30000"/>
              </a:srgbClr>
            </a:outerShdw>
          </a:effectLst>
        </p:spPr>
      </p:sp>
      <p:sp>
        <p:nvSpPr>
          <p:cNvPr id="13" name="Text 11"/>
          <p:cNvSpPr/>
          <p:nvPr/>
        </p:nvSpPr>
        <p:spPr>
          <a:xfrm>
            <a:off x="6172200" y="1371600"/>
            <a:ext cx="2286000" cy="548640"/>
          </a:xfrm>
          <a:prstGeom prst="rect">
            <a:avLst/>
          </a:prstGeom>
          <a:noFill/>
          <a:ln/>
        </p:spPr>
        <p:txBody>
          <a:bodyPr wrap="square" rtlCol="0" anchor="ctr"/>
          <a:lstStyle/>
          <a:p>
            <a:pPr algn="ctr" indent="0" marL="0">
              <a:buNone/>
            </a:pPr>
            <a:r>
              <a:rPr lang="en-US" sz="1600" b="1" dirty="0">
                <a:solidFill>
                  <a:srgbClr val="6D2E46"/>
                </a:solidFill>
                <a:latin typeface="Georgia" pitchFamily="34" charset="0"/>
                <a:ea typeface="Georgia" pitchFamily="34" charset="-122"/>
                <a:cs typeface="Georgia" pitchFamily="34" charset="-120"/>
              </a:rPr>
              <a:t>Film och radio</a:t>
            </a:r>
            <a:endParaRPr lang="en-US" sz="1600" dirty="0"/>
          </a:p>
        </p:txBody>
      </p:sp>
      <p:sp>
        <p:nvSpPr>
          <p:cNvPr id="14" name="Shape 12"/>
          <p:cNvSpPr/>
          <p:nvPr/>
        </p:nvSpPr>
        <p:spPr>
          <a:xfrm>
            <a:off x="6583680" y="1920240"/>
            <a:ext cx="1463040" cy="27432"/>
          </a:xfrm>
          <a:prstGeom prst="rect">
            <a:avLst/>
          </a:prstGeom>
          <a:solidFill>
            <a:srgbClr val="A26769"/>
          </a:solidFill>
          <a:ln/>
        </p:spPr>
      </p:sp>
      <p:sp>
        <p:nvSpPr>
          <p:cNvPr id="15" name="Text 13"/>
          <p:cNvSpPr/>
          <p:nvPr/>
        </p:nvSpPr>
        <p:spPr>
          <a:xfrm>
            <a:off x="6172200" y="2103120"/>
            <a:ext cx="2286000" cy="1828800"/>
          </a:xfrm>
          <a:prstGeom prst="rect">
            <a:avLst/>
          </a:prstGeom>
          <a:noFill/>
          <a:ln/>
        </p:spPr>
        <p:txBody>
          <a:bodyPr wrap="square" rtlCol="0" anchor="t"/>
          <a:lstStyle/>
          <a:p>
            <a:pPr algn="ctr" indent="0" marL="0">
              <a:buNone/>
            </a:pPr>
            <a:r>
              <a:rPr lang="en-US" sz="1400" dirty="0">
                <a:solidFill>
                  <a:srgbClr val="2D2D2D"/>
                </a:solidFill>
                <a:latin typeface="Calibri" pitchFamily="34" charset="0"/>
                <a:ea typeface="Calibri" pitchFamily="34" charset="-122"/>
                <a:cs typeface="Calibri" pitchFamily="34" charset="-120"/>
              </a:rPr>
              <a:t>Nya medier anvandes for att na massorna. Leni Riefenstahls filmer glorifierade nazismen.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CE2D0"/>
        </a:solidFill>
      </p:bgPr>
    </p:bg>
    <p:spTree>
      <p:nvGrpSpPr>
        <p:cNvPr id="1" name=""/>
        <p:cNvGrpSpPr/>
        <p:nvPr/>
      </p:nvGrpSpPr>
      <p:grpSpPr>
        <a:xfrm>
          <a:off x="0" y="0"/>
          <a:ext cx="0" cy="0"/>
          <a:chOff x="0" y="0"/>
          <a:chExt cx="0" cy="0"/>
        </a:xfrm>
      </p:grpSpPr>
      <p:sp>
        <p:nvSpPr>
          <p:cNvPr id="2" name="Text 0"/>
          <p:cNvSpPr/>
          <p:nvPr/>
        </p:nvSpPr>
        <p:spPr>
          <a:xfrm>
            <a:off x="548640" y="274320"/>
            <a:ext cx="8046720" cy="731520"/>
          </a:xfrm>
          <a:prstGeom prst="rect">
            <a:avLst/>
          </a:prstGeom>
          <a:noFill/>
          <a:ln/>
        </p:spPr>
        <p:txBody>
          <a:bodyPr wrap="square" rtlCol="0" anchor="ctr"/>
          <a:lstStyle/>
          <a:p>
            <a:pPr indent="0" marL="0">
              <a:buNone/>
            </a:pPr>
            <a:r>
              <a:rPr lang="en-US" sz="2600" b="1" dirty="0">
                <a:solidFill>
                  <a:srgbClr val="6D2E46"/>
                </a:solidFill>
                <a:latin typeface="Georgia" pitchFamily="34" charset="0"/>
                <a:ea typeface="Georgia" pitchFamily="34" charset="-122"/>
                <a:cs typeface="Georgia" pitchFamily="34" charset="-120"/>
              </a:rPr>
              <a:t>Att granska kallor - propagandaanalys</a:t>
            </a:r>
            <a:endParaRPr lang="en-US" sz="2600" dirty="0"/>
          </a:p>
        </p:txBody>
      </p:sp>
      <p:sp>
        <p:nvSpPr>
          <p:cNvPr id="3" name="Shape 1"/>
          <p:cNvSpPr/>
          <p:nvPr/>
        </p:nvSpPr>
        <p:spPr>
          <a:xfrm>
            <a:off x="548640" y="960120"/>
            <a:ext cx="2286000" cy="36576"/>
          </a:xfrm>
          <a:prstGeom prst="rect">
            <a:avLst/>
          </a:prstGeom>
          <a:solidFill>
            <a:srgbClr val="A26769"/>
          </a:solidFill>
          <a:ln/>
        </p:spPr>
      </p:sp>
      <p:sp>
        <p:nvSpPr>
          <p:cNvPr id="4" name="Shape 2"/>
          <p:cNvSpPr/>
          <p:nvPr/>
        </p:nvSpPr>
        <p:spPr>
          <a:xfrm>
            <a:off x="457200" y="1188720"/>
            <a:ext cx="3931920" cy="1463040"/>
          </a:xfrm>
          <a:prstGeom prst="roundRect">
            <a:avLst>
              <a:gd name="adj" fmla="val 6250"/>
            </a:avLst>
          </a:prstGeom>
          <a:solidFill>
            <a:srgbClr val="FFFFFF"/>
          </a:solidFill>
          <a:ln/>
          <a:effectLst>
            <a:outerShdw sx="100000" sy="100000" kx="0" ky="0" algn="bl" rotWithShape="0" blurRad="38100" dist="25400" dir="16200000">
              <a:srgbClr val="CCCCCC">
                <a:alpha val="30000"/>
              </a:srgbClr>
            </a:outerShdw>
          </a:effectLst>
        </p:spPr>
      </p:sp>
      <p:sp>
        <p:nvSpPr>
          <p:cNvPr id="5" name="Text 3"/>
          <p:cNvSpPr/>
          <p:nvPr/>
        </p:nvSpPr>
        <p:spPr>
          <a:xfrm>
            <a:off x="640080" y="1280160"/>
            <a:ext cx="3566160" cy="457200"/>
          </a:xfrm>
          <a:prstGeom prst="rect">
            <a:avLst/>
          </a:prstGeom>
          <a:noFill/>
          <a:ln/>
        </p:spPr>
        <p:txBody>
          <a:bodyPr wrap="square" rtlCol="0" anchor="ctr"/>
          <a:lstStyle/>
          <a:p>
            <a:pPr indent="0" marL="0">
              <a:buNone/>
            </a:pPr>
            <a:r>
              <a:rPr lang="en-US" sz="2000" b="1" dirty="0">
                <a:solidFill>
                  <a:srgbClr val="6D2E46"/>
                </a:solidFill>
                <a:latin typeface="Georgia" pitchFamily="34" charset="0"/>
                <a:ea typeface="Georgia" pitchFamily="34" charset="-122"/>
                <a:cs typeface="Georgia" pitchFamily="34" charset="-120"/>
              </a:rPr>
              <a:t>1. Vem?</a:t>
            </a:r>
            <a:endParaRPr lang="en-US" sz="2000" dirty="0"/>
          </a:p>
        </p:txBody>
      </p:sp>
      <p:sp>
        <p:nvSpPr>
          <p:cNvPr id="6" name="Text 4"/>
          <p:cNvSpPr/>
          <p:nvPr/>
        </p:nvSpPr>
        <p:spPr>
          <a:xfrm>
            <a:off x="640080" y="1737360"/>
            <a:ext cx="3566160" cy="822960"/>
          </a:xfrm>
          <a:prstGeom prst="rect">
            <a:avLst/>
          </a:prstGeom>
          <a:noFill/>
          <a:ln/>
        </p:spPr>
        <p:txBody>
          <a:bodyPr wrap="square" rtlCol="0" anchor="ctr"/>
          <a:lstStyle/>
          <a:p>
            <a:pPr indent="0" marL="0">
              <a:buNone/>
            </a:pPr>
            <a:r>
              <a:rPr lang="en-US" sz="1400" dirty="0">
                <a:solidFill>
                  <a:srgbClr val="2D2D2D"/>
                </a:solidFill>
                <a:latin typeface="Calibri" pitchFamily="34" charset="0"/>
                <a:ea typeface="Calibri" pitchFamily="34" charset="-122"/>
                <a:cs typeface="Calibri" pitchFamily="34" charset="-120"/>
              </a:rPr>
              <a:t>Vem har skapat kallan? Vilken organisation eller person star bakom?</a:t>
            </a:r>
            <a:endParaRPr lang="en-US" sz="1400" dirty="0"/>
          </a:p>
        </p:txBody>
      </p:sp>
      <p:sp>
        <p:nvSpPr>
          <p:cNvPr id="7" name="Shape 5"/>
          <p:cNvSpPr/>
          <p:nvPr/>
        </p:nvSpPr>
        <p:spPr>
          <a:xfrm>
            <a:off x="4663440" y="1188720"/>
            <a:ext cx="3931920" cy="1463040"/>
          </a:xfrm>
          <a:prstGeom prst="roundRect">
            <a:avLst>
              <a:gd name="adj" fmla="val 6250"/>
            </a:avLst>
          </a:prstGeom>
          <a:solidFill>
            <a:srgbClr val="FFFFFF"/>
          </a:solidFill>
          <a:ln/>
          <a:effectLst>
            <a:outerShdw sx="100000" sy="100000" kx="0" ky="0" algn="bl" rotWithShape="0" blurRad="38100" dist="25400" dir="16200000">
              <a:srgbClr val="CCCCCC">
                <a:alpha val="30000"/>
              </a:srgbClr>
            </a:outerShdw>
          </a:effectLst>
        </p:spPr>
      </p:sp>
      <p:sp>
        <p:nvSpPr>
          <p:cNvPr id="8" name="Text 6"/>
          <p:cNvSpPr/>
          <p:nvPr/>
        </p:nvSpPr>
        <p:spPr>
          <a:xfrm>
            <a:off x="4846320" y="1280160"/>
            <a:ext cx="3566160" cy="457200"/>
          </a:xfrm>
          <a:prstGeom prst="rect">
            <a:avLst/>
          </a:prstGeom>
          <a:noFill/>
          <a:ln/>
        </p:spPr>
        <p:txBody>
          <a:bodyPr wrap="square" rtlCol="0" anchor="ctr"/>
          <a:lstStyle/>
          <a:p>
            <a:pPr indent="0" marL="0">
              <a:buNone/>
            </a:pPr>
            <a:r>
              <a:rPr lang="en-US" sz="2000" b="1" dirty="0">
                <a:solidFill>
                  <a:srgbClr val="6D2E46"/>
                </a:solidFill>
                <a:latin typeface="Georgia" pitchFamily="34" charset="0"/>
                <a:ea typeface="Georgia" pitchFamily="34" charset="-122"/>
                <a:cs typeface="Georgia" pitchFamily="34" charset="-120"/>
              </a:rPr>
              <a:t>2. Varfor?</a:t>
            </a:r>
            <a:endParaRPr lang="en-US" sz="2000" dirty="0"/>
          </a:p>
        </p:txBody>
      </p:sp>
      <p:sp>
        <p:nvSpPr>
          <p:cNvPr id="9" name="Text 7"/>
          <p:cNvSpPr/>
          <p:nvPr/>
        </p:nvSpPr>
        <p:spPr>
          <a:xfrm>
            <a:off x="4846320" y="1737360"/>
            <a:ext cx="3566160" cy="822960"/>
          </a:xfrm>
          <a:prstGeom prst="rect">
            <a:avLst/>
          </a:prstGeom>
          <a:noFill/>
          <a:ln/>
        </p:spPr>
        <p:txBody>
          <a:bodyPr wrap="square" rtlCol="0" anchor="ctr"/>
          <a:lstStyle/>
          <a:p>
            <a:pPr indent="0" marL="0">
              <a:buNone/>
            </a:pPr>
            <a:r>
              <a:rPr lang="en-US" sz="1400" dirty="0">
                <a:solidFill>
                  <a:srgbClr val="2D2D2D"/>
                </a:solidFill>
                <a:latin typeface="Calibri" pitchFamily="34" charset="0"/>
                <a:ea typeface="Calibri" pitchFamily="34" charset="-122"/>
                <a:cs typeface="Calibri" pitchFamily="34" charset="-120"/>
              </a:rPr>
              <a:t>Vad ar syftet? Vill avsandaren informera, overtyga eller manipulera?</a:t>
            </a:r>
            <a:endParaRPr lang="en-US" sz="1400" dirty="0"/>
          </a:p>
        </p:txBody>
      </p:sp>
      <p:sp>
        <p:nvSpPr>
          <p:cNvPr id="10" name="Shape 8"/>
          <p:cNvSpPr/>
          <p:nvPr/>
        </p:nvSpPr>
        <p:spPr>
          <a:xfrm>
            <a:off x="457200" y="2926080"/>
            <a:ext cx="3931920" cy="1463040"/>
          </a:xfrm>
          <a:prstGeom prst="roundRect">
            <a:avLst>
              <a:gd name="adj" fmla="val 6250"/>
            </a:avLst>
          </a:prstGeom>
          <a:solidFill>
            <a:srgbClr val="FFFFFF"/>
          </a:solidFill>
          <a:ln/>
          <a:effectLst>
            <a:outerShdw sx="100000" sy="100000" kx="0" ky="0" algn="bl" rotWithShape="0" blurRad="38100" dist="25400" dir="16200000">
              <a:srgbClr val="CCCCCC">
                <a:alpha val="30000"/>
              </a:srgbClr>
            </a:outerShdw>
          </a:effectLst>
        </p:spPr>
      </p:sp>
      <p:sp>
        <p:nvSpPr>
          <p:cNvPr id="11" name="Text 9"/>
          <p:cNvSpPr/>
          <p:nvPr/>
        </p:nvSpPr>
        <p:spPr>
          <a:xfrm>
            <a:off x="640080" y="3017520"/>
            <a:ext cx="3566160" cy="457200"/>
          </a:xfrm>
          <a:prstGeom prst="rect">
            <a:avLst/>
          </a:prstGeom>
          <a:noFill/>
          <a:ln/>
        </p:spPr>
        <p:txBody>
          <a:bodyPr wrap="square" rtlCol="0" anchor="ctr"/>
          <a:lstStyle/>
          <a:p>
            <a:pPr indent="0" marL="0">
              <a:buNone/>
            </a:pPr>
            <a:r>
              <a:rPr lang="en-US" sz="2000" b="1" dirty="0">
                <a:solidFill>
                  <a:srgbClr val="6D2E46"/>
                </a:solidFill>
                <a:latin typeface="Georgia" pitchFamily="34" charset="0"/>
                <a:ea typeface="Georgia" pitchFamily="34" charset="-122"/>
                <a:cs typeface="Georgia" pitchFamily="34" charset="-120"/>
              </a:rPr>
              <a:t>3. Nar?</a:t>
            </a:r>
            <a:endParaRPr lang="en-US" sz="2000" dirty="0"/>
          </a:p>
        </p:txBody>
      </p:sp>
      <p:sp>
        <p:nvSpPr>
          <p:cNvPr id="12" name="Text 10"/>
          <p:cNvSpPr/>
          <p:nvPr/>
        </p:nvSpPr>
        <p:spPr>
          <a:xfrm>
            <a:off x="640080" y="3474720"/>
            <a:ext cx="3566160" cy="822960"/>
          </a:xfrm>
          <a:prstGeom prst="rect">
            <a:avLst/>
          </a:prstGeom>
          <a:noFill/>
          <a:ln/>
        </p:spPr>
        <p:txBody>
          <a:bodyPr wrap="square" rtlCol="0" anchor="ctr"/>
          <a:lstStyle/>
          <a:p>
            <a:pPr indent="0" marL="0">
              <a:buNone/>
            </a:pPr>
            <a:r>
              <a:rPr lang="en-US" sz="1400" dirty="0">
                <a:solidFill>
                  <a:srgbClr val="2D2D2D"/>
                </a:solidFill>
                <a:latin typeface="Calibri" pitchFamily="34" charset="0"/>
                <a:ea typeface="Calibri" pitchFamily="34" charset="-122"/>
                <a:cs typeface="Calibri" pitchFamily="34" charset="-120"/>
              </a:rPr>
              <a:t>I vilken tid skapades kallan? Vad hande da som kan paverka innehallet?</a:t>
            </a:r>
            <a:endParaRPr lang="en-US" sz="1400" dirty="0"/>
          </a:p>
        </p:txBody>
      </p:sp>
      <p:sp>
        <p:nvSpPr>
          <p:cNvPr id="13" name="Shape 11"/>
          <p:cNvSpPr/>
          <p:nvPr/>
        </p:nvSpPr>
        <p:spPr>
          <a:xfrm>
            <a:off x="4663440" y="2926080"/>
            <a:ext cx="3931920" cy="1463040"/>
          </a:xfrm>
          <a:prstGeom prst="roundRect">
            <a:avLst>
              <a:gd name="adj" fmla="val 6250"/>
            </a:avLst>
          </a:prstGeom>
          <a:solidFill>
            <a:srgbClr val="FFFFFF"/>
          </a:solidFill>
          <a:ln/>
          <a:effectLst>
            <a:outerShdw sx="100000" sy="100000" kx="0" ky="0" algn="bl" rotWithShape="0" blurRad="38100" dist="25400" dir="16200000">
              <a:srgbClr val="CCCCCC">
                <a:alpha val="30000"/>
              </a:srgbClr>
            </a:outerShdw>
          </a:effectLst>
        </p:spPr>
      </p:sp>
      <p:sp>
        <p:nvSpPr>
          <p:cNvPr id="14" name="Text 12"/>
          <p:cNvSpPr/>
          <p:nvPr/>
        </p:nvSpPr>
        <p:spPr>
          <a:xfrm>
            <a:off x="4846320" y="3017520"/>
            <a:ext cx="3566160" cy="457200"/>
          </a:xfrm>
          <a:prstGeom prst="rect">
            <a:avLst/>
          </a:prstGeom>
          <a:noFill/>
          <a:ln/>
        </p:spPr>
        <p:txBody>
          <a:bodyPr wrap="square" rtlCol="0" anchor="ctr"/>
          <a:lstStyle/>
          <a:p>
            <a:pPr indent="0" marL="0">
              <a:buNone/>
            </a:pPr>
            <a:r>
              <a:rPr lang="en-US" sz="2000" b="1" dirty="0">
                <a:solidFill>
                  <a:srgbClr val="6D2E46"/>
                </a:solidFill>
                <a:latin typeface="Georgia" pitchFamily="34" charset="0"/>
                <a:ea typeface="Georgia" pitchFamily="34" charset="-122"/>
                <a:cs typeface="Georgia" pitchFamily="34" charset="-120"/>
              </a:rPr>
              <a:t>4. Hur?</a:t>
            </a:r>
            <a:endParaRPr lang="en-US" sz="2000" dirty="0"/>
          </a:p>
        </p:txBody>
      </p:sp>
      <p:sp>
        <p:nvSpPr>
          <p:cNvPr id="15" name="Text 13"/>
          <p:cNvSpPr/>
          <p:nvPr/>
        </p:nvSpPr>
        <p:spPr>
          <a:xfrm>
            <a:off x="4846320" y="3474720"/>
            <a:ext cx="3566160" cy="822960"/>
          </a:xfrm>
          <a:prstGeom prst="rect">
            <a:avLst/>
          </a:prstGeom>
          <a:noFill/>
          <a:ln/>
        </p:spPr>
        <p:txBody>
          <a:bodyPr wrap="square" rtlCol="0" anchor="ctr"/>
          <a:lstStyle/>
          <a:p>
            <a:pPr indent="0" marL="0">
              <a:buNone/>
            </a:pPr>
            <a:r>
              <a:rPr lang="en-US" sz="1400" dirty="0">
                <a:solidFill>
                  <a:srgbClr val="2D2D2D"/>
                </a:solidFill>
                <a:latin typeface="Calibri" pitchFamily="34" charset="0"/>
                <a:ea typeface="Calibri" pitchFamily="34" charset="-122"/>
                <a:cs typeface="Calibri" pitchFamily="34" charset="-120"/>
              </a:rPr>
              <a:t>Vilka metoder anvands? Kanslor, overdrifter, utelamnanden?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26769"/>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algn="ctr" indent="0" marL="0">
              <a:buNone/>
            </a:pPr>
            <a:r>
              <a:rPr lang="en-US" sz="2000" i="1" dirty="0">
                <a:solidFill>
                  <a:srgbClr val="FFFFFF"/>
                </a:solidFill>
                <a:latin typeface="Georgia" pitchFamily="34" charset="0"/>
                <a:ea typeface="Georgia" pitchFamily="34" charset="-122"/>
                <a:cs typeface="Georgia" pitchFamily="34" charset="-120"/>
              </a:rPr>
              <a:t>Diskutera</a:t>
            </a:r>
            <a:endParaRPr lang="en-US" sz="2000" dirty="0"/>
          </a:p>
        </p:txBody>
      </p:sp>
      <p:sp>
        <p:nvSpPr>
          <p:cNvPr id="3" name="Text 1"/>
          <p:cNvSpPr/>
          <p:nvPr/>
        </p:nvSpPr>
        <p:spPr>
          <a:xfrm>
            <a:off x="914400" y="1188720"/>
            <a:ext cx="7315200" cy="2286000"/>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Finns det propaganda i samhallet idag?</a:t>
            </a:r>
            <a:endParaRPr lang="en-US" sz="2800" dirty="0"/>
          </a:p>
          <a:p>
            <a:pPr algn="ctr" indent="0" marL="0">
              <a:buNone/>
            </a:pPr>
            <a:r>
              <a:rPr lang="en-US" sz="2800" b="1" dirty="0">
                <a:solidFill>
                  <a:srgbClr val="FFFFFF"/>
                </a:solidFill>
                <a:latin typeface="Georgia" pitchFamily="34" charset="0"/>
                <a:ea typeface="Georgia" pitchFamily="34" charset="-122"/>
                <a:cs typeface="Georgia" pitchFamily="34" charset="-120"/>
              </a:rPr>
              <a:t>Hur skiljer den sig fran 1930-talets?</a:t>
            </a:r>
            <a:endParaRPr lang="en-US" sz="2800" dirty="0"/>
          </a:p>
        </p:txBody>
      </p:sp>
      <p:sp>
        <p:nvSpPr>
          <p:cNvPr id="4" name="Shape 2"/>
          <p:cNvSpPr/>
          <p:nvPr/>
        </p:nvSpPr>
        <p:spPr>
          <a:xfrm>
            <a:off x="3200400" y="3657600"/>
            <a:ext cx="2743200" cy="36576"/>
          </a:xfrm>
          <a:prstGeom prst="rect">
            <a:avLst/>
          </a:prstGeom>
          <a:solidFill>
            <a:srgbClr val="FFFFFF"/>
          </a:solidFill>
          <a:ln/>
        </p:spPr>
      </p:sp>
      <p:sp>
        <p:nvSpPr>
          <p:cNvPr id="5" name="Text 3"/>
          <p:cNvSpPr/>
          <p:nvPr/>
        </p:nvSpPr>
        <p:spPr>
          <a:xfrm>
            <a:off x="914400" y="3840480"/>
            <a:ext cx="7315200" cy="73152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Tanka pa: sociala medier, reklam, politiska budskap</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6D2E46"/>
        </a:solidFill>
      </p:bgPr>
    </p:bg>
    <p:spTree>
      <p:nvGrpSpPr>
        <p:cNvPr id="1" name=""/>
        <p:cNvGrpSpPr/>
        <p:nvPr/>
      </p:nvGrpSpPr>
      <p:grpSpPr>
        <a:xfrm>
          <a:off x="0" y="0"/>
          <a:ext cx="0" cy="0"/>
          <a:chOff x="0" y="0"/>
          <a:chExt cx="0" cy="0"/>
        </a:xfrm>
      </p:grpSpPr>
      <p:sp>
        <p:nvSpPr>
          <p:cNvPr id="2" name="Text 0"/>
          <p:cNvSpPr/>
          <p:nvPr/>
        </p:nvSpPr>
        <p:spPr>
          <a:xfrm>
            <a:off x="457200" y="274320"/>
            <a:ext cx="8229600" cy="91440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Varfor blev demokratier diktaturer?</a:t>
            </a:r>
            <a:endParaRPr lang="en-US" sz="3200" dirty="0"/>
          </a:p>
        </p:txBody>
      </p:sp>
      <p:sp>
        <p:nvSpPr>
          <p:cNvPr id="3" name="Shape 1"/>
          <p:cNvSpPr/>
          <p:nvPr/>
        </p:nvSpPr>
        <p:spPr>
          <a:xfrm>
            <a:off x="3200400" y="1188720"/>
            <a:ext cx="2743200" cy="36576"/>
          </a:xfrm>
          <a:prstGeom prst="rect">
            <a:avLst/>
          </a:prstGeom>
          <a:solidFill>
            <a:srgbClr val="A26769"/>
          </a:solidFill>
          <a:ln/>
        </p:spPr>
      </p:sp>
      <p:sp>
        <p:nvSpPr>
          <p:cNvPr id="4" name="Text 2"/>
          <p:cNvSpPr/>
          <p:nvPr/>
        </p:nvSpPr>
        <p:spPr>
          <a:xfrm>
            <a:off x="1371600" y="1463040"/>
            <a:ext cx="6400800" cy="2743200"/>
          </a:xfrm>
          <a:prstGeom prst="rect">
            <a:avLst/>
          </a:prstGeom>
          <a:noFill/>
          <a:ln/>
        </p:spPr>
        <p:txBody>
          <a:bodyPr wrap="square" rtlCol="0" anchor="t"/>
          <a:lstStyle/>
          <a:p>
            <a:pPr algn="l" marL="342900" indent="-342900">
              <a:buSzPct val="100000"/>
              <a:buChar char="•"/>
            </a:pPr>
            <a:r>
              <a:rPr lang="en-US" sz="1700" dirty="0">
                <a:solidFill>
                  <a:srgbClr val="FFFFFF"/>
                </a:solidFill>
                <a:latin typeface="Calibri" pitchFamily="34" charset="0"/>
                <a:ea typeface="Calibri" pitchFamily="34" charset="-122"/>
                <a:cs typeface="Calibri" pitchFamily="34" charset="-120"/>
              </a:rPr>
              <a:t>En orattvis fred som skapade bitterhet och hamndbegar</a:t>
            </a:r>
            <a:endParaRPr lang="en-US" sz="1700" dirty="0"/>
          </a:p>
          <a:p>
            <a:pPr algn="l" marL="342900" indent="-342900">
              <a:buSzPct val="100000"/>
              <a:buChar char="•"/>
            </a:pPr>
            <a:r>
              <a:rPr lang="en-US" sz="1700" dirty="0">
                <a:solidFill>
                  <a:srgbClr val="FFFFFF"/>
                </a:solidFill>
                <a:latin typeface="Calibri" pitchFamily="34" charset="0"/>
                <a:ea typeface="Calibri" pitchFamily="34" charset="-122"/>
                <a:cs typeface="Calibri" pitchFamily="34" charset="-120"/>
              </a:rPr>
              <a:t>Ekonomiska kriser som krossade manniskors trygghet</a:t>
            </a:r>
            <a:endParaRPr lang="en-US" sz="1700" dirty="0"/>
          </a:p>
          <a:p>
            <a:pPr algn="l" marL="342900" indent="-342900">
              <a:buSzPct val="100000"/>
              <a:buChar char="•"/>
            </a:pPr>
            <a:r>
              <a:rPr lang="en-US" sz="1700" dirty="0">
                <a:solidFill>
                  <a:srgbClr val="FFFFFF"/>
                </a:solidFill>
                <a:latin typeface="Calibri" pitchFamily="34" charset="0"/>
                <a:ea typeface="Calibri" pitchFamily="34" charset="-122"/>
                <a:cs typeface="Calibri" pitchFamily="34" charset="-120"/>
              </a:rPr>
              <a:t>Extrema ideologier som lovade ordning och storhet</a:t>
            </a:r>
            <a:endParaRPr lang="en-US" sz="1700" dirty="0"/>
          </a:p>
          <a:p>
            <a:pPr algn="l" marL="342900" indent="-342900">
              <a:buSzPct val="100000"/>
              <a:buChar char="•"/>
            </a:pPr>
            <a:r>
              <a:rPr lang="en-US" sz="1700" dirty="0">
                <a:solidFill>
                  <a:srgbClr val="FFFFFF"/>
                </a:solidFill>
                <a:latin typeface="Calibri" pitchFamily="34" charset="0"/>
                <a:ea typeface="Calibri" pitchFamily="34" charset="-122"/>
                <a:cs typeface="Calibri" pitchFamily="34" charset="-120"/>
              </a:rPr>
              <a:t>Propaganda som tystade kritik och manipulerade massorna</a:t>
            </a:r>
            <a:endParaRPr lang="en-US" sz="1700" dirty="0"/>
          </a:p>
          <a:p>
            <a:pPr algn="l" marL="342900" indent="-342900">
              <a:buSzPct val="100000"/>
              <a:buChar char="•"/>
            </a:pPr>
            <a:r>
              <a:rPr lang="en-US" sz="1700" dirty="0">
                <a:solidFill>
                  <a:srgbClr val="FFFFFF"/>
                </a:solidFill>
                <a:latin typeface="Calibri" pitchFamily="34" charset="0"/>
                <a:ea typeface="Calibri" pitchFamily="34" charset="-122"/>
                <a:cs typeface="Calibri" pitchFamily="34" charset="-120"/>
              </a:rPr>
              <a:t>Ledare som anvande demokratin for att avskaffa den</a:t>
            </a:r>
            <a:endParaRPr lang="en-US" sz="1700" dirty="0"/>
          </a:p>
        </p:txBody>
      </p:sp>
      <p:sp>
        <p:nvSpPr>
          <p:cNvPr id="5" name="Text 3"/>
          <p:cNvSpPr/>
          <p:nvPr/>
        </p:nvSpPr>
        <p:spPr>
          <a:xfrm>
            <a:off x="914400" y="4206240"/>
            <a:ext cx="7315200" cy="548640"/>
          </a:xfrm>
          <a:prstGeom prst="rect">
            <a:avLst/>
          </a:prstGeom>
          <a:noFill/>
          <a:ln/>
        </p:spPr>
        <p:txBody>
          <a:bodyPr wrap="square" rtlCol="0" anchor="ctr"/>
          <a:lstStyle/>
          <a:p>
            <a:pPr algn="ctr" indent="0" marL="0">
              <a:buNone/>
            </a:pPr>
            <a:r>
              <a:rPr lang="en-US" sz="2200" i="1" dirty="0">
                <a:solidFill>
                  <a:srgbClr val="A26769"/>
                </a:solidFill>
                <a:latin typeface="Georgia" pitchFamily="34" charset="0"/>
                <a:ea typeface="Georgia" pitchFamily="34" charset="-122"/>
                <a:cs typeface="Georgia" pitchFamily="34" charset="-120"/>
              </a:rPr>
              <a:t>Kan det handa igen?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Mellankrigstiden</dc:title>
  <dc:subject>PptxGenJS Presentation</dc:subject>
  <dc:creator>Anders</dc:creator>
  <cp:lastModifiedBy>Anders</cp:lastModifiedBy>
  <cp:revision>1</cp:revision>
  <dcterms:created xsi:type="dcterms:W3CDTF">2026-03-16T15:48:34Z</dcterms:created>
  <dcterms:modified xsi:type="dcterms:W3CDTF">2026-03-16T15:48:34Z</dcterms:modified>
</cp:coreProperties>
</file>