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bild från skyttegravarna. Låt eleverna reagera spontant. Samla intryck.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 målpresentation. Tid: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Förklara varför dessa vapen ledde till stillestånd snarare än snabb seger. Kontrollfråga: Varför kunde ingen sida vinna?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Betona kontrasten mellan propagandans bild och verkligheten. Skapa empati.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Introduktion av analysverktyget. Förklara varje fråga kort.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Modellera hela analysen högt. 'Jag ser att... Jag undrar varför... Detta säger mig att...' Kontrollfråga: Vad visar affischen INTE? Tid: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 källkritisk insikt. Lyssna efter om eleverna förstår skillnaden mellan trovärdighet och användbarhet.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 ut källor och analysschema. Cirkulera. Fördjupningsfrågor: Vilken källa ger den mest rättvisande bilden? Varför? Tid: 25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 helklassreflektion. Koppla framåt till nästa lektion om globala perspektiv.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ticket: Ge ett exempel på hur propaganda kan vara opålitlig som faktabeskrivning men ändå värdefull som historisk källa.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Skyttegravskriget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moderna krigets verklighet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1b  –  Lektion 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0" cy="3840480"/>
          </a:xfrm>
          <a:prstGeom prst="rect">
            <a:avLst>
              <a:gd name="adj" fmla="val 1190"/>
            </a:avLst>
          </a:prstGeom>
          <a:solidFill>
            <a:srgbClr val="2A363B"/>
          </a:solidFill>
          <a:ln w="19050">
            <a:solidFill>
              <a:srgbClr val="A7BEAE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48640" y="2011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[Bild: skyttegrav]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13716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ser ni?</a:t>
            </a:r>
            <a:endParaRPr lang="en-US" sz="2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tror ni det var att leva här?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Idag ska ni kunna: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Förklara hur nya vapen förändrade krigets karaktär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Beskriva vardagen i skyttegravarna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Använda de fyra källkritiska grundfrågorna på historiska källor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Jämföra olika källors bild av kriget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Vilka nya vapen förändrade krigets karaktär?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2468880" cy="2743200"/>
          </a:xfrm>
          <a:prstGeom prst="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Kulsprutan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1097280" cy="2743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603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Gjorde anfall över öppet fält självmordsuppdrag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468880" cy="2743200"/>
          </a:xfrm>
          <a:prstGeom prst="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Giftgasen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0" y="2331720"/>
            <a:ext cx="1097280" cy="2743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5603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Nytt skräckmedel som bröt mot alla krigets regler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468880" cy="2743200"/>
          </a:xfrm>
          <a:prstGeom prst="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Stridsvagnen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2331720"/>
            <a:ext cx="1097280" cy="2743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5603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Försök att bryta dödläget - kom sent i kriget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 var vardagen i skyttegravarna?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Lera, vatten och råttor - fruktansvärda fysiska förhållanden</a:t>
            </a:r>
            <a:endParaRPr lang="en-US" sz="17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 rädsla och väntan - psykisk påfrestning (granatchock)</a:t>
            </a:r>
            <a:endParaRPr lang="en-US" sz="17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Kontrasten: propagandans hjältebilder vs. soldaternas brev hem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54864" cy="7315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6576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”Vi levde som råttor, inte som människor.”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7B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fyra källkritiska grundfrågorna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828800" cy="256032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888888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651760" y="1554480"/>
            <a:ext cx="1828800" cy="256032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888888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65176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När?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1828800" cy="256032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88888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858000" y="1554480"/>
            <a:ext cx="1828800" cy="256032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888888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Vad?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skapade källan?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När skapades den?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skapades den?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säger den?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Låt oss analysera en propagandaaffisch tillsammans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71600"/>
            <a:ext cx="1280160" cy="548640"/>
          </a:xfrm>
          <a:prstGeom prst="rect">
            <a:avLst>
              <a:gd name="adj" fmla="val 8333"/>
            </a:avLst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Brittiska krigsministeriet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1280160" cy="548640"/>
          </a:xfrm>
          <a:prstGeom prst="rect">
            <a:avLst>
              <a:gd name="adj" fmla="val 8333"/>
            </a:avLst>
          </a:prstGeom>
          <a:solidFill>
            <a:srgbClr val="A7BEA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När?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68880" y="21945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1915, mitt under kriget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1280160" cy="548640"/>
          </a:xfrm>
          <a:prstGeom prst="rect">
            <a:avLst>
              <a:gd name="adj" fmla="val 8333"/>
            </a:avLst>
          </a:prstGeom>
          <a:solidFill>
            <a:srgbClr val="A7BEA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175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30175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Rekrytera soldater - övertala män att anmäla sig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3840480"/>
            <a:ext cx="1280160" cy="548640"/>
          </a:xfrm>
          <a:prstGeom prst="rect">
            <a:avLst>
              <a:gd name="adj" fmla="val 8333"/>
            </a:avLst>
          </a:prstGeom>
          <a:solidFill>
            <a:srgbClr val="A7BEA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40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38404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Visar kriget som äventyr och plikt - döljer verkligheten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Diskutera (2 min):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 en källa som ljuger ändå vara användbar?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 ett exempel.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A7B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Analysera källorna i par!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7680960" cy="292608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888888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828800"/>
            <a:ext cx="6949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Använd de fyra grundfrågorna på varje källa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Jämför: Hur skiljer sig soldatbrevet från propagandaaffischen?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Vilken källa ger den mest rättvisande bilden? Varför?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Vilka perspektiv saknas i dessa källor?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2926080"/>
            <a:ext cx="1828800" cy="3657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Tänk - prata - dela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lektion: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 det hela världens världskrig?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2286000" cy="36576"/>
          </a:xfrm>
          <a:prstGeom prst="rect">
            <a:avLst/>
          </a:prstGeom>
          <a:solidFill>
            <a:srgbClr val="A7BEA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Historia 1b - Första världskriget - Lektion 3</dc:subject>
  <dc:creator>Anders</dc:creator>
  <cp:lastModifiedBy>Anders</cp:lastModifiedBy>
  <cp:revision>1</cp:revision>
  <dcterms:created xsi:type="dcterms:W3CDTF">2026-03-16T14:21:22Z</dcterms:created>
  <dcterms:modified xsi:type="dcterms:W3CDTF">2026-03-16T14:21:22Z</dcterms:modified>
</cp:coreProperties>
</file>